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74519"/>
            <a:ext cx="103327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800" b="1">
                <a:solidFill>
                  <a:srgbClr val="1A1A1A"/>
                </a:solidFill>
                <a:latin typeface="Calibri"/>
              </a:rPr>
              <a:t>The Map of Lean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888888"/>
                </a:solidFill>
                <a:latin typeface="Calibri"/>
              </a:rPr>
              <a:t>v16.0  ·  Research group meeting  ·  29 October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333333"/>
                </a:solidFill>
                <a:latin typeface="Calibri"/>
              </a:rPr>
              <a:t>For this room: PDE is home turf, Lean is not. No computer science assumed.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977639"/>
            <a:ext cx="10332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333333"/>
                </a:solidFill>
                <a:latin typeface="Calibri"/>
              </a:rPr>
              <a:t>First: what Lean already knows.</a:t>
            </a:r>
          </a:p>
          <a:p>
            <a:pPr algn="l"/>
            <a:r>
              <a:rPr sz="1800" b="0">
                <a:solidFill>
                  <a:srgbClr val="333333"/>
                </a:solidFill>
                <a:latin typeface="Calibri"/>
              </a:rPr>
              <a:t>Then: how to name it and build on it.</a:t>
            </a:r>
          </a:p>
          <a:p>
            <a:pPr algn="l"/>
            <a:r>
              <a:rPr sz="1800" b="0">
                <a:solidFill>
                  <a:srgbClr val="333333"/>
                </a:solidFill>
                <a:latin typeface="Calibri"/>
              </a:rPr>
              <a:t>Along the way: where each word lives (A/B/C/D).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5321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563EB"/>
                </a:solidFill>
                <a:latin typeface="Calibri"/>
              </a:rPr>
              <a:t>Open Lean4_practice.lean alongside this deck. Type as we go.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9893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Calibri"/>
              </a:rPr>
              <a:t>We end on the gap: the analysis layer is there; the PDE layer is not.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Calibri"/>
              </a:rPr>
              <a:t>The premise: mathematics is larger, Lean checks a fragment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54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Mathematics: ideas, definitions, examples, proofs in ordinary language.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Lean 4: a formal language. A small kernel checks that a term has the stated type.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Lean does NOT decide whether your formalization matches the math you meant.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Start from the mathematics. Use Lean to make one piece checkable.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0" y="128016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Calibri"/>
              </a:rPr>
              <a:t>Three ideas to keep in mind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0" y="1828800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97706"/>
                </a:solidFill>
                <a:latin typeface="Calibri"/>
              </a:rPr>
              <a:t>Curry–Howard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214884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Propositions are types. Proofs are terms of those types.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743200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97706"/>
                </a:solidFill>
                <a:latin typeface="Calibri"/>
              </a:rPr>
              <a:t>Meaning triangle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306324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A symbol never touches its referent directly. Thought mediates.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3657600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97706"/>
                </a:solidFill>
                <a:latin typeface="Calibri"/>
              </a:rPr>
              <a:t>Desirable difficulty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3977639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Retrieval and spacing help. You will get confused on purpose.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Calibri"/>
              </a:rPr>
              <a:t>What is computation? Two answers, one result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54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280160"/>
            <a:ext cx="5303520" cy="3200400"/>
          </a:xfrm>
          <a:prstGeom prst="roundRect">
            <a:avLst/>
          </a:prstGeom>
          <a:solidFill>
            <a:srgbClr val="F5F5F5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1732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Calibri"/>
              </a:rPr>
              <a:t>Turing (1936)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475488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An infinite tape divided into cells.</a:t>
            </a:r>
          </a:p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A read/write head moves left and right.</a:t>
            </a:r>
          </a:p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At each step: read the cell, decide</a:t>
            </a:r>
          </a:p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what to write, move, change state.</a:t>
            </a:r>
          </a:p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That is the whole machine.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280160"/>
            <a:ext cx="5303520" cy="3200400"/>
          </a:xfrm>
          <a:prstGeom prst="roundRect">
            <a:avLst/>
          </a:prstGeom>
          <a:solidFill>
            <a:srgbClr val="F5F5F5"/>
          </a:solidFill>
          <a:ln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41732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Calibri"/>
              </a:rPr>
              <a:t>Church (1936)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965960"/>
            <a:ext cx="475488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onsolas"/>
              </a:rPr>
              <a:t>No tape, no states. Everything is a function.</a:t>
            </a:r>
          </a:p>
          <a:p>
            <a:pPr algn="l"/>
            <a:r>
              <a:rPr sz="1300" b="0">
                <a:solidFill>
                  <a:srgbClr val="333333"/>
                </a:solidFill>
                <a:latin typeface="Consolas"/>
              </a:rPr>
              <a:t>Three rules only:</a:t>
            </a:r>
          </a:p>
          <a:p>
            <a:pPr algn="l"/>
            <a:r>
              <a:rPr sz="1300" b="0">
                <a:solidFill>
                  <a:srgbClr val="333333"/>
                </a:solidFill>
                <a:latin typeface="Consolas"/>
              </a:rPr>
              <a:t>  x        a variable</a:t>
            </a:r>
          </a:p>
          <a:p>
            <a:pPr algn="l"/>
            <a:r>
              <a:rPr sz="1300" b="0">
                <a:solidFill>
                  <a:srgbClr val="333333"/>
                </a:solidFill>
                <a:latin typeface="Consolas"/>
              </a:rPr>
              <a:t>  λx. e    a function (input x, body e)</a:t>
            </a:r>
          </a:p>
          <a:p>
            <a:pPr algn="l"/>
            <a:r>
              <a:rPr sz="1300" b="0">
                <a:solidFill>
                  <a:srgbClr val="333333"/>
                </a:solidFill>
                <a:latin typeface="Consolas"/>
              </a:rPr>
              <a:t>  f a      apply f to a</a:t>
            </a:r>
          </a:p>
          <a:p>
            <a:pPr algn="l"/>
            <a:r>
              <a:rPr sz="1300" b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300" b="0">
                <a:solidFill>
                  <a:srgbClr val="333333"/>
                </a:solidFill>
                <a:latin typeface="Consolas"/>
              </a:rPr>
              <a:t>That is the whole calculus.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7548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2563EB"/>
                </a:solidFill>
                <a:latin typeface="Calibri"/>
              </a:rPr>
              <a:t>They proved these two models have the same power. This equivalence is a pillar of the Church-Turing thesis. Lean's kernel is a typed lambda calculus.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Calibri"/>
              </a:rPr>
              <a:t>What is a proof? From Hilbert to machine-checking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54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Hilbert (1900): write all mathematics as axioms + fixed inference rules. Then a proof is mechanical — no intuition needed.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Gödel (1931): no system strong enough for arithmetic can prove its own consistency. But this does NOT kill the project — it says you cannot do it from inside.</a:t>
            </a:r>
          </a:p>
          <a:p>
            <a:pPr>
              <a:spcAft>
                <a:spcPts val="400"/>
              </a:spcAft>
            </a:pPr>
            <a:r>
              <a:rPr sz="1500">
                <a:solidFill>
                  <a:srgbClr val="333333"/>
                </a:solidFill>
                <a:latin typeface="Calibri"/>
              </a:rPr>
              <a:t>•  What survives: a single proof can still be written so a machine checks every step. That is what Lean does.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Calibri"/>
              </a:rPr>
              <a:t>What is a proof, concretely?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1480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 Start from axioms. Apply inference rules one at a time.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 The most basic rule: modus ponens — if you have P→Q and P, you may conclude Q.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 Every step is mechanical. A machine can verify that no step was skipped.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7C3AED"/>
                </a:solidFill>
                <a:latin typeface="Calibri"/>
              </a:rPr>
              <a:t>Curry-Howard (1): why P→Q is a function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5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333333"/>
                </a:solidFill>
                <a:latin typeface="Calibri"/>
              </a:rPr>
              <a:t>What IS a proof of P→Q? It is a method: give me a proof of P, I give you a proof of Q.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10881360" cy="201168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-- Logic: "P implies Q" means you can build Q from P.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-- Program: a function P → Q does exactly that.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 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theorem modus_ponens (P Q : Prop) : (P → Q) → P → Q := by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  intro f p  -- assume f : P → Q, p : P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  exact f p  -- apply the method to the proof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14800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Modus ponens (logic): from P→Q and P, conclude Q.</a:t>
            </a:r>
          </a:p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Function application (program): from f : P→Q and p : P, get f p : Q.</a:t>
            </a:r>
          </a:p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Same rule. Same shape. Lean sees them as ONE thing.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7C3AED"/>
                </a:solidFill>
                <a:latin typeface="Calibri"/>
              </a:rPr>
              <a:t>Curry-Howard (2): logic / type / category — one table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5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2560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7C3AED"/>
                </a:solidFill>
                <a:latin typeface="Calibri"/>
              </a:rPr>
              <a:t>Logic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0" y="1143000"/>
            <a:ext cx="2560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D97706"/>
                </a:solidFill>
                <a:latin typeface="Calibri"/>
              </a:rPr>
              <a:t>Type theory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0" y="1143000"/>
            <a:ext cx="2560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563EB"/>
                </a:solidFill>
                <a:latin typeface="Calibri"/>
              </a:rPr>
              <a:t>Category theory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0" y="1143000"/>
            <a:ext cx="2926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333333"/>
                </a:solidFill>
                <a:latin typeface="Calibri"/>
              </a:rPr>
              <a:t>Why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508760"/>
            <a:ext cx="2560320" cy="32004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P ∧ Q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1508760"/>
            <a:ext cx="2560320" cy="32004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P × Q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0" y="1527048"/>
            <a:ext cx="2560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2563EB"/>
                </a:solidFill>
                <a:latin typeface="Calibri"/>
              </a:rPr>
              <a:t>product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1527048"/>
            <a:ext cx="2926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need BOTH proofs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1929384"/>
            <a:ext cx="2560320" cy="32004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P ∨ Q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91840" y="1929384"/>
            <a:ext cx="2560320" cy="32004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P ⊕ 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1947672"/>
            <a:ext cx="2560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2563EB"/>
                </a:solidFill>
                <a:latin typeface="Calibri"/>
              </a:rPr>
              <a:t>coproduct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1947672"/>
            <a:ext cx="2926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need EITHER proof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2350008"/>
            <a:ext cx="2560320" cy="32004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P → Q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91840" y="2350008"/>
            <a:ext cx="2560320" cy="32004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P ⇒ 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2368296"/>
            <a:ext cx="2560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2563EB"/>
                </a:solidFill>
                <a:latin typeface="Calibri"/>
              </a:rPr>
              <a:t>exponential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2368296"/>
            <a:ext cx="2926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function: P→Q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2770632"/>
            <a:ext cx="2560320" cy="32004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¬P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91840" y="2770632"/>
            <a:ext cx="2560320" cy="32004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P → False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2788920"/>
            <a:ext cx="2560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2563EB"/>
                </a:solidFill>
                <a:latin typeface="Calibri"/>
              </a:rPr>
              <a:t>function to empty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0" y="2788920"/>
            <a:ext cx="2926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P implies False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191256"/>
            <a:ext cx="2560320" cy="32004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P ↔ Q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91840" y="3191256"/>
            <a:ext cx="2560320" cy="32004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Iff P Q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3209544"/>
            <a:ext cx="2560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2563EB"/>
                </a:solidFill>
                <a:latin typeface="Calibri"/>
              </a:rPr>
              <a:t>hom-set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0" y="3209544"/>
            <a:ext cx="2926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both directions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3611879"/>
            <a:ext cx="2560320" cy="32004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∀ x, P(x)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91840" y="3611879"/>
            <a:ext cx="2560320" cy="32004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Π x, P 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3630168"/>
            <a:ext cx="2560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2563EB"/>
                </a:solidFill>
                <a:latin typeface="Calibri"/>
              </a:rPr>
              <a:t>dependent prod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95360" y="3630168"/>
            <a:ext cx="2926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function: x→proof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4032504"/>
            <a:ext cx="2560320" cy="32004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∃ x, P(x)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91840" y="4032504"/>
            <a:ext cx="2560320" cy="32004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Σ x, P 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0" y="4050791"/>
            <a:ext cx="2560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2563EB"/>
                </a:solidFill>
                <a:latin typeface="Calibri"/>
              </a:rPr>
              <a:t>dependent sum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95360" y="4050791"/>
            <a:ext cx="2926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pair: x + proof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" y="4453128"/>
            <a:ext cx="2560320" cy="32004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x = 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91840" y="4453128"/>
            <a:ext cx="2560320" cy="32004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Eq x 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4471416"/>
            <a:ext cx="2560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2563EB"/>
                </a:solidFill>
                <a:latin typeface="Calibri"/>
              </a:rPr>
              <a:t>identity type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95360" y="4471416"/>
            <a:ext cx="2926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proof of equality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0080" y="4873752"/>
            <a:ext cx="2560320" cy="32004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⊤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291840" y="4873752"/>
            <a:ext cx="2560320" cy="32004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Unit/True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600" y="4892040"/>
            <a:ext cx="2560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2563EB"/>
                </a:solidFill>
                <a:latin typeface="Calibri"/>
              </a:rPr>
              <a:t>terminal obj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5360" y="4892040"/>
            <a:ext cx="2926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one trivial proof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40080" y="5294376"/>
            <a:ext cx="2560320" cy="32004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⊥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291840" y="5294376"/>
            <a:ext cx="2560320" cy="32004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Empty/False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43600" y="5312664"/>
            <a:ext cx="2560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2563EB"/>
                </a:solidFill>
                <a:latin typeface="Calibri"/>
              </a:rPr>
              <a:t>initial obj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95360" y="5312664"/>
            <a:ext cx="2926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no proof at all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58521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7C3AED"/>
                </a:solidFill>
                <a:latin typeface="Calibri"/>
              </a:rPr>
              <a:t>Three names for one thing. ¬P = P→False. P↔Q = Iff (a structure holding two functions). x=y = Eq x y.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7C3AED"/>
                </a:solidFill>
                <a:latin typeface="Calibri"/>
              </a:rPr>
              <a:t>Curry-Howard (2b): why ∀ is a function, ∃ is a pair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5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97706"/>
                </a:solidFill>
                <a:latin typeface="Calibri"/>
              </a:rPr>
              <a:t>∀ x, P(x)  — give me x, I return a proof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5303520" cy="274320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-- "for all n, 0+n = n" means: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-- give me any n, I give you a proof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 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example : (n : Nat) → 0 + n = n := by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  intro 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  induction n with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  | zero =&gt; rfl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  | succ k ih =&gt; rw [Nat.add_succ, ih]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 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-- ↑ this IS a function.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-- ↑ n is the input, the body returns the proof.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18872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97706"/>
                </a:solidFill>
                <a:latin typeface="Calibri"/>
              </a:rPr>
              <a:t>∃ x, P(x)  — I hand you x AND a proof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303520" cy="274320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-- "there exists k such that 4 = 2*k"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-- means: I give you k=2, AND a proof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 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example : ∃ k : Nat, 4 = 2 * k := by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  refine ⟨2, ?_⟩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  rfl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 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-- ↑ refine ⟨2, ?_⟩: give the pair, leave me a hole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-- ↑ ⟨2, rfl⟩ is a PAIR: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--   first field  = 2  (the witness)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--   second field = proof that 4=2*2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572000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7C3AED"/>
                </a:solidFill>
                <a:latin typeface="Calibri"/>
              </a:rPr>
              <a:t>P(x) varies with x: P(0) = "0=0" (has proof), P(1) = "1=0" (no proof).</a:t>
            </a:r>
          </a:p>
          <a:p>
            <a:pPr algn="l"/>
            <a:r>
              <a:rPr sz="1200" b="1">
                <a:solidFill>
                  <a:srgbClr val="7C3AED"/>
                </a:solidFill>
                <a:latin typeface="Calibri"/>
              </a:rPr>
              <a:t>Π x, P(x)  = a function that gives a proof for EVERY x.  Σ x, P(x)  = one specific x + its proof.</a:t>
            </a:r>
          </a:p>
          <a:p>
            <a:pPr algn="l"/>
            <a:r>
              <a:rPr sz="1200" b="1">
                <a:solidFill>
                  <a:srgbClr val="7C3AED"/>
                </a:solidFill>
                <a:latin typeface="Calibri"/>
              </a:rPr>
              <a:t>∀ = Π = function.  ∃ = Σ = pair.  Lean writes ∀ as (x : α) → P x, ∃ as ⟨witness, proof⟩.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7C3AED"/>
                </a:solidFill>
                <a:latin typeface="Calibri"/>
              </a:rPr>
              <a:t>Curry-Howard (3): proof = program, checked = compiled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5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•  Proving a theorem  =  writing a function whose type is the theorem statement.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•  Checking a proof   =  the type checker verifying that function.</a:t>
            </a:r>
          </a:p>
          <a:p>
            <a:pPr>
              <a:spcAft>
                <a:spcPts val="400"/>
              </a:spcAft>
            </a:pPr>
            <a:r>
              <a:rPr sz="1600">
                <a:solidFill>
                  <a:srgbClr val="333333"/>
                </a:solidFill>
                <a:latin typeface="Calibri"/>
              </a:rPr>
              <a:t>•  Simplifying a proof =  running / evaluating the program.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3200400"/>
            <a:ext cx="10881360" cy="256032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example : 2 + 2 = 4 := by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  rfl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--   ↑ this is a proof.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--   It is also a term of type (2 + 2 = 4).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--   rfl checks that 2+2 and 4 reduce to the same thing.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--   That is β/iota reduction doing its job.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7C3AED"/>
                </a:solidFill>
                <a:latin typeface="Calibri"/>
              </a:rPr>
              <a:t>Lean's kernel does one thing: check types. It has no idea it is also checking proofs.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D97706"/>
                </a:solidFill>
                <a:latin typeface="Calibri"/>
              </a:rPr>
              <a:t>What IS a type? Four rules — not a set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54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A type is NOT a collection of elements. It is COMPLETELY DEFINED by four rules. Example: the function type A → B.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97706"/>
                </a:solidFill>
                <a:latin typeface="Calibri"/>
              </a:rPr>
              <a:t>1. Formation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0" y="1828800"/>
            <a:ext cx="5943600" cy="36576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If A : Type and B : Type, then A → B : Type.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0" y="1847088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When is this a valid type?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1460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97706"/>
                </a:solidFill>
                <a:latin typeface="Calibri"/>
              </a:rPr>
              <a:t>2. Introduction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17520" y="2514600"/>
            <a:ext cx="5943600" cy="36576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If x : A gives t : B, then (fun x =&gt; t) : A → B.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2532888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How do you BUILD a term? (lambda / constructor)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20040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97706"/>
                </a:solidFill>
                <a:latin typeface="Calibri"/>
              </a:rPr>
              <a:t>3. Elimination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17520" y="3200400"/>
            <a:ext cx="5943600" cy="36576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If f : A → B and a : A, then f a : B.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3218688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How do you USE a term? (application / match)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8620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97706"/>
                </a:solidFill>
                <a:latin typeface="Calibri"/>
              </a:rPr>
              <a:t>4. Computation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017520" y="3886200"/>
            <a:ext cx="5943600" cy="36576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(fun x =&gt; t) a  reduces to  t[a/x].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3904487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What happens when intro meets elim? (beta reduction)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8463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D97706"/>
                </a:solidFill>
                <a:latin typeface="Calibri"/>
              </a:rPr>
              <a:t>No analogy. No 'set of functions'. The four rules ARE the definition. Every type you meet — Nat, Sum, Sigma, Empty — works the same way.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D97706"/>
                </a:solidFill>
                <a:latin typeface="Calibri"/>
              </a:rPr>
              <a:t>The four rules, in Lean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54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97706"/>
                </a:solidFill>
                <a:latin typeface="Calibri"/>
              </a:rPr>
              <a:t>Formation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1371600"/>
            <a:ext cx="5486400" cy="36576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you write  inductive / def / 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389888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you declare: this is a type 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97706"/>
                </a:solidFill>
                <a:latin typeface="Calibri"/>
              </a:rPr>
              <a:t>Introduction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2011680"/>
            <a:ext cx="5486400" cy="36576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constructors:  Nat.zero, Nat.succ, Or.inl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2029968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these are the ONLY ways to make a term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5176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97706"/>
                </a:solidFill>
                <a:latin typeface="Calibri"/>
              </a:rPr>
              <a:t>Elimination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2651760"/>
            <a:ext cx="5486400" cy="36576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match / recursor:  Nat.rec, Or.casesOn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2670048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this is the ONLY way to USE a term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291840"/>
            <a:ext cx="2011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97706"/>
                </a:solidFill>
                <a:latin typeface="Calibri"/>
              </a:rPr>
              <a:t>Computation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0" y="3291840"/>
            <a:ext cx="5486400" cy="36576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100">
                <a:solidFill>
                  <a:srgbClr val="1A1A1A"/>
                </a:solidFill>
                <a:latin typeface="Consolas"/>
              </a:rPr>
              <a:t>kernel reduces automatically;  rfl  checks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310128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intro meets elim → simplification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114800"/>
            <a:ext cx="1097280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When you write  inductive Nat where  | zero  | succ</a:t>
            </a:r>
          </a:p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you give the INTRODUCTION rules. Lean auto-generates the ELIMINATOR (Nat.rec) and COMPUTATION rules.</a:t>
            </a:r>
          </a:p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This is why inductive is the single most powerful keyword in Lean:</a:t>
            </a:r>
          </a:p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one declaration pins down all four rules — the keyword gives FORMATION,</a:t>
            </a:r>
          </a:p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you write INTRODUCTION, Lean generates ELIMINATION and COMPUTATION.</a:t>
            </a:r>
          </a:p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Precision: introduction &amp; computation are per-constructor; formation &amp; elimination are per-type (one recursor).</a:t>
            </a:r>
          </a:p>
          <a:p>
            <a:pPr algn="l"/>
            <a:r>
              <a:rPr sz="1100" b="0">
                <a:solidFill>
                  <a:srgbClr val="333333"/>
                </a:solidFill>
                <a:latin typeface="Calibri"/>
              </a:rPr>
              <a:t>The rules for Type u itself — variables, conversion, universes — are the same four rules one level up. You never declare those.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500" b="1">
                <a:solidFill>
                  <a:srgbClr val="1A1A1A"/>
                </a:solidFill>
                <a:latin typeface="Calibri"/>
              </a:rPr>
              <a:t>The glue: syntax symbols — not a home, but you see them everywhere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54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Before the four homes: these symbols themselves are not terms — but expressions built from them DO have types.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Four bracket types: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2011680" cy="32004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( e 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1984248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grouping, function application:  f (x+1)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50008"/>
            <a:ext cx="2011680" cy="32004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{x : α}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368296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implicit arg — caller omits, Lean infers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734056"/>
            <a:ext cx="2011680" cy="32004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[inst : C]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2752344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instance arg — Lean searches automatically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118103"/>
            <a:ext cx="2011680" cy="32004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⟨a, b⟩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3136391"/>
            <a:ext cx="8686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anonymous constructor — build a pair/struct value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657600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Other glue: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023360"/>
            <a:ext cx="1371600" cy="32004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4560" y="4041648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has type:  n : Nat   (left of : is a term, right is its type)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370832"/>
            <a:ext cx="1371600" cy="32004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:=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4389120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defined as:  def x := 5   (the body equals the name)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718304"/>
            <a:ext cx="1371600" cy="32004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94560" y="473659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arrow:  Nat → Nat   (also written as function type)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065776"/>
            <a:ext cx="1371600" cy="32004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_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4560" y="5084064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placeholder: Lean figures it out for you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413248"/>
            <a:ext cx="1371600" cy="32004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|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94560" y="5431536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case separator: inductive constructors, match arms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760720"/>
            <a:ext cx="1371600" cy="32004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94560" y="5779007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focus block: in by-mode, start proving the current goal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6108192"/>
            <a:ext cx="1371600" cy="32004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#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94560" y="6126479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command: #check, #eval — ask Lean a question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Calibri"/>
              </a:rPr>
              <a:t>Every word lives in one of four homes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54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5212080" cy="2194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59" y="1554480"/>
            <a:ext cx="548640" cy="54864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60020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563EB"/>
                </a:solidFill>
                <a:latin typeface="Calibri"/>
              </a:rPr>
              <a:t>Environment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286000"/>
            <a:ext cx="47548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You ask Lean about the room.</a:t>
            </a:r>
          </a:p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#check, #eval, import, open, namespace.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371600"/>
            <a:ext cx="5212080" cy="2194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92240" y="1554480"/>
            <a:ext cx="548640" cy="5486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160020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059669"/>
                </a:solidFill>
                <a:latin typeface="Calibri"/>
              </a:rPr>
              <a:t>Declaration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286000"/>
            <a:ext cx="47548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You add something new to the room.</a:t>
            </a:r>
          </a:p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def, inductive, structure, theorem.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40480"/>
            <a:ext cx="5212080" cy="2194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2959" y="4023360"/>
            <a:ext cx="548640" cy="548640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0690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D97706"/>
                </a:solidFill>
                <a:latin typeface="Calibri"/>
              </a:rPr>
              <a:t>Term / Type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754880"/>
            <a:ext cx="47548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An expression itself.</a:t>
            </a:r>
          </a:p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2, fun n =&gt; n+1, Color.red, match ...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840480"/>
            <a:ext cx="5212080" cy="21945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92240" y="4023360"/>
            <a:ext cx="548640" cy="54864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40690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7C3AED"/>
                </a:solidFill>
                <a:latin typeface="Calibri"/>
              </a:rPr>
              <a:t>Proof strategy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4754880"/>
            <a:ext cx="47548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A tactic that helps build a C term.</a:t>
            </a:r>
          </a:p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by intro n; rw [h]; rfl.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Calibri"/>
              </a:rPr>
              <a:t>How to read this deck: look at the screen first, get names later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54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31520" y="1371600"/>
            <a:ext cx="457200" cy="4572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389888"/>
            <a:ext cx="1828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Calibri"/>
              </a:rPr>
              <a:t>See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141732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Open Lean. It already knows numbers, booleans, strings. #check them.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2514600"/>
            <a:ext cx="457200" cy="4572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532888"/>
            <a:ext cx="1828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Calibri"/>
              </a:rPr>
              <a:t>Build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256032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Give things names with def. Build new types with inductive.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3657600"/>
            <a:ext cx="457200" cy="457200"/>
          </a:xfrm>
          <a:prstGeom prst="ellipse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675887"/>
            <a:ext cx="1828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Calibri"/>
              </a:rPr>
              <a:t>Prove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370332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A proof is just a term of a proposition type. Tactics help build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61772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97706"/>
                </a:solidFill>
                <a:latin typeface="Calibri"/>
              </a:rPr>
              <a:t>Coming from PDE? Slide 33 — the last one — tells you where Mathlib actually stands for analysis.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44068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Calibri"/>
              </a:rPr>
              <a:t>You do not need any computer science to follow the arc. Everything today happens on one screen, and every line you see compiles.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Calibri"/>
              </a:rPr>
              <a:t>Open Lean. The room is already full.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54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Lean already knows all of these. You did not declare any of them. Type them and watch the right panel.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6858000" cy="347472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500">
                <a:solidFill>
                  <a:srgbClr val="1A1A1A"/>
                </a:solidFill>
                <a:latin typeface="Consolas"/>
              </a:rPr>
              <a:t>#check 2            -- Nat</a:t>
            </a:r>
          </a:p>
          <a:p>
            <a:pPr algn="l"/>
            <a:r>
              <a:rPr sz="1500">
                <a:solidFill>
                  <a:srgbClr val="1A1A1A"/>
                </a:solidFill>
                <a:latin typeface="Consolas"/>
              </a:rPr>
              <a:t>#check true         -- Bool</a:t>
            </a:r>
          </a:p>
          <a:p>
            <a:pPr algn="l"/>
            <a:r>
              <a:rPr sz="1500">
                <a:solidFill>
                  <a:srgbClr val="1A1A1A"/>
                </a:solidFill>
                <a:latin typeface="Consolas"/>
              </a:rPr>
              <a:t>#check "hello"      -- String</a:t>
            </a:r>
          </a:p>
          <a:p>
            <a:pPr algn="l"/>
            <a:r>
              <a:rPr sz="1500">
                <a:solidFill>
                  <a:srgbClr val="1A1A1A"/>
                </a:solidFill>
                <a:latin typeface="Consolas"/>
              </a:rPr>
              <a:t>#check [1, 2, 3]    -- List Nat</a:t>
            </a:r>
          </a:p>
          <a:p>
            <a:pPr algn="l"/>
            <a:r>
              <a:rPr sz="1500">
                <a:solidFill>
                  <a:srgbClr val="1A1A1A"/>
                </a:solidFill>
                <a:latin typeface="Consolas"/>
              </a:rPr>
              <a:t>#check (2, true)    -- Nat × Bool</a:t>
            </a:r>
          </a:p>
          <a:p>
            <a:pPr algn="l"/>
            <a:r>
              <a:rPr sz="1500">
                <a:solidFill>
                  <a:srgbClr val="1A1A1A"/>
                </a:solidFill>
                <a:latin typeface="Consolas"/>
              </a:rPr>
              <a:t>#check Nat          -- Type</a:t>
            </a:r>
          </a:p>
          <a:p>
            <a:pPr algn="l"/>
            <a:r>
              <a:rPr sz="1500">
                <a:solidFill>
                  <a:srgbClr val="1A1A1A"/>
                </a:solidFill>
                <a:latin typeface="Consolas"/>
              </a:rPr>
              <a:t>#check Type         -- Type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0" y="1737360"/>
            <a:ext cx="3840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#check asks: what type is this?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The panel on the right (infoview) answers.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2 is not 'an integer'. It is a term of type Nat.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Nat itself has a type: Type.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Type itself has a type: Type 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0" y="5029200"/>
            <a:ext cx="3840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563EB"/>
                </a:solidFill>
                <a:latin typeface="Calibri"/>
              </a:rPr>
              <a:t>Do not memorize Type 1 yet.</a:t>
            </a:r>
          </a:p>
          <a:p>
            <a:pPr algn="l"/>
            <a:r>
              <a:rPr sz="1300" b="1">
                <a:solidFill>
                  <a:srgbClr val="2563EB"/>
                </a:solidFill>
                <a:latin typeface="Calibri"/>
              </a:rPr>
              <a:t>Just notice: types themselves have types.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Calibri"/>
              </a:rPr>
              <a:t>A type classifies a term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54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Read ":" as has type. Left of : is a term. Right of : is what kind of term it is.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6858000" cy="256032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500">
                <a:solidFill>
                  <a:srgbClr val="1A1A1A"/>
                </a:solidFill>
                <a:latin typeface="Consolas"/>
              </a:rPr>
              <a:t>#check (2 : Nat)</a:t>
            </a:r>
          </a:p>
          <a:p>
            <a:pPr algn="l"/>
            <a:r>
              <a:rPr sz="1500">
                <a:solidFill>
                  <a:srgbClr val="1A1A1A"/>
                </a:solidFill>
                <a:latin typeface="Consolas"/>
              </a:rPr>
              <a:t>#check (true : Bool)</a:t>
            </a:r>
          </a:p>
          <a:p>
            <a:pPr algn="l"/>
            <a:r>
              <a:rPr sz="1500">
                <a:solidFill>
                  <a:srgbClr val="1A1A1A"/>
                </a:solidFill>
                <a:latin typeface="Consolas"/>
              </a:rPr>
              <a:t>#check (fun n =&gt; n + 1 : Nat → Nat)</a:t>
            </a:r>
          </a:p>
          <a:p>
            <a:pPr algn="l"/>
            <a:r>
              <a:rPr sz="1500">
                <a:solidFill>
                  <a:srgbClr val="1A1A1A"/>
                </a:solidFill>
                <a:latin typeface="Consolas"/>
              </a:rPr>
              <a:t>#check (2 + 2 = 4)   -- this is a Prop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0" y="1737360"/>
            <a:ext cx="3840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Nat, Bool carry data you can compute with.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Prop carries propositions.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A term of type P ∧ Q is a proof of P ∧ Q.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Most proofs cannot be taken apart to compute data.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572000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97706"/>
                </a:solidFill>
                <a:latin typeface="Calibri"/>
              </a:rPr>
              <a:t>Why this comes first: a theorem statement IS a type. A proof IS a term of that type. Everything later hangs off this one sentence.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2563EB"/>
                </a:solidFill>
                <a:latin typeface="Calibri"/>
              </a:rPr>
              <a:t>A · Environment · Ask Lean four questions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54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280160"/>
            <a:ext cx="5943600" cy="411480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500">
                <a:solidFill>
                  <a:srgbClr val="1A1A1A"/>
                </a:solidFill>
                <a:latin typeface="Consolas"/>
              </a:rPr>
              <a:t>#check (2 + 2)       -- Nat</a:t>
            </a:r>
          </a:p>
          <a:p>
            <a:pPr algn="l"/>
            <a:r>
              <a:rPr sz="1500">
                <a:solidFill>
                  <a:srgbClr val="1A1A1A"/>
                </a:solidFill>
                <a:latin typeface="Consolas"/>
              </a:rPr>
              <a:t>#eval  (2 + 2)       -- 4</a:t>
            </a:r>
          </a:p>
          <a:p>
            <a:pPr algn="l"/>
            <a:r>
              <a:rPr sz="1500">
                <a:solidFill>
                  <a:srgbClr val="1A1A1A"/>
                </a:solidFill>
                <a:latin typeface="Consolas"/>
              </a:rPr>
              <a:t>#reduce (1 + 2)      -- 3</a:t>
            </a:r>
          </a:p>
          <a:p>
            <a:pPr algn="l"/>
            <a:r>
              <a:rPr sz="1500">
                <a:solidFill>
                  <a:srgbClr val="1A1A1A"/>
                </a:solidFill>
                <a:latin typeface="Consolas"/>
              </a:rPr>
              <a:t>-- #print Nat.add    -- see definition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0" y="137160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563EB"/>
                </a:solidFill>
                <a:latin typeface="Consolas"/>
              </a:rPr>
              <a:t>#check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0" y="137160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What type is this expression?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0" y="219456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563EB"/>
                </a:solidFill>
                <a:latin typeface="Consolas"/>
              </a:rPr>
              <a:t>#eval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0" y="219456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Run it and print the value.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301752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563EB"/>
                </a:solidFill>
                <a:latin typeface="Consolas"/>
              </a:rPr>
              <a:t>#reduce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78240" y="301752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Fully simplify, show the result.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384048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2563EB"/>
                </a:solidFill>
                <a:latin typeface="Consolas"/>
              </a:rPr>
              <a:t>#print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3840480"/>
            <a:ext cx="2926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Show how something is defined.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5778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Calibri"/>
              </a:rPr>
              <a:t>These four commands only READ the environment. They never create anything.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2563EB"/>
                </a:solidFill>
                <a:latin typeface="Calibri"/>
              </a:rPr>
              <a:t>A · Environment · Organize names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54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280160"/>
            <a:ext cx="5943600" cy="329184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-- OPTIONAL: this one line needs Mathlib installed.</a:t>
            </a:r>
          </a:p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-- Delete it and everything else below still works.</a:t>
            </a:r>
          </a:p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import Mathlib.Tactic   -- bring outside names in</a:t>
            </a:r>
          </a:p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namespace Lesson         -- give names an address</a:t>
            </a:r>
          </a:p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def two : Nat := 2</a:t>
            </a:r>
          </a:p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end Lesson</a:t>
            </a:r>
          </a:p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#check Lesson.two</a:t>
            </a:r>
          </a:p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-- scoped open: only affects the next line</a:t>
            </a:r>
          </a:p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open Lesson in</a:t>
            </a:r>
          </a:p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#check two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0" y="1371600"/>
            <a:ext cx="4572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 import: make names from other files available.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 namespace: a folder for names, closed by end.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 open: skip the folder prefix.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 section / variable: temporary assumptions, vanish at end.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800600"/>
            <a:ext cx="10972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Calibri"/>
              </a:rPr>
              <a:t>You rarely write these by hand in a day. You need them because Lean's standard library puts everything in folders.</a:t>
            </a:r>
          </a:p>
          <a:p>
            <a:pPr algn="l"/>
            <a:r>
              <a:rPr sz="1300" b="0">
                <a:solidFill>
                  <a:srgbClr val="888888"/>
                </a:solidFill>
                <a:latin typeface="Calibri"/>
              </a:rPr>
              <a:t>The import line is the only thing on this slide that needs Mathlib. Plain Lean (Init) is enough for everything else in this deck.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59669"/>
                </a:solidFill>
                <a:latin typeface="Calibri"/>
              </a:rPr>
              <a:t>B · Declarations · Name a term, step by step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54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7132320" cy="475488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-- Step 1: give a value a name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def two : Nat := 2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 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-- Step 2: a function (input -&gt; output)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def double (n : Nat) : Nat := n + n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 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-- Step 3: use them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#eval double two     -- 4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 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-- Step 4: a proposition is a type. rfl proves it.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example : 2 + 2 = 4 := rfl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 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-- Step 5: name the theorem (same as example, but reusable)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theorem two_plus_two : 2 + 2 = 4 := rfl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371600"/>
            <a:ext cx="3474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def: name a value.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example: check, do not store.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theorem / lemma: name a proof.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axiom: not shown on purpose.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3474720"/>
            <a:ext cx="34747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DC2626"/>
                </a:solidFill>
                <a:latin typeface="Calibri"/>
              </a:rPr>
              <a:t>axiom means: declare a name and a type,</a:t>
            </a:r>
          </a:p>
          <a:p>
            <a:pPr algn="l"/>
            <a:r>
              <a:rPr sz="1200" b="0">
                <a:solidFill>
                  <a:srgbClr val="DC2626"/>
                </a:solidFill>
                <a:latin typeface="Calibri"/>
              </a:rPr>
              <a:t>but give no definition.</a:t>
            </a:r>
          </a:p>
          <a:p>
            <a:pPr algn="l"/>
            <a:r>
              <a:rPr sz="1200" b="0">
                <a:solidFill>
                  <a:srgbClr val="DC2626"/>
                </a:solidFill>
                <a:latin typeface="Calibri"/>
              </a:rPr>
              <a:t>Skip it for now. It is how you</a:t>
            </a:r>
          </a:p>
          <a:p>
            <a:pPr algn="l"/>
            <a:r>
              <a:rPr sz="1200" b="0">
                <a:solidFill>
                  <a:srgbClr val="DC2626"/>
                </a:solidFill>
                <a:latin typeface="Calibri"/>
              </a:rPr>
              <a:t>"cheat" — you do not need to</a:t>
            </a:r>
          </a:p>
          <a:p>
            <a:pPr algn="l"/>
            <a:r>
              <a:rPr sz="1200" b="0">
                <a:solidFill>
                  <a:srgbClr val="DC2626"/>
                </a:solidFill>
                <a:latin typeface="Calibri"/>
              </a:rPr>
              <a:t>cheat yet.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59669"/>
                </a:solidFill>
                <a:latin typeface="Calibri"/>
              </a:rPr>
              <a:t>Two buckets: what Lean gives you, what you build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54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280160"/>
            <a:ext cx="5303520" cy="2971800"/>
          </a:xfrm>
          <a:prstGeom prst="roundRect">
            <a:avLst/>
          </a:prstGeom>
          <a:solidFill>
            <a:srgbClr val="EFF6FF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1732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2563EB"/>
                </a:solidFill>
                <a:latin typeface="Calibri"/>
              </a:rPr>
              <a:t>Kernel: three type-formers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4754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The kernel only knows three ways to form a type: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/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1A1A1A"/>
                </a:solidFill>
                <a:latin typeface="Consolas"/>
              </a:rPr>
              <a:t>  Sort   (Prop, Type, Type 1 ...)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1A1A1A"/>
                </a:solidFill>
                <a:latin typeface="Consolas"/>
              </a:rPr>
              <a:t>  → / ∀  (Pi type)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1A1A1A"/>
                </a:solidFill>
                <a:latin typeface="Consolas"/>
              </a:rPr>
              <a:t>  Quot   (quotient)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/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These are hard-coded. You never declare them.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This is a mechanism map, not a closed inventory —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reduction and recursion also live here.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280160"/>
            <a:ext cx="5303520" cy="297180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41732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59669"/>
                </a:solidFill>
                <a:latin typeface="Calibri"/>
              </a:rPr>
              <a:t>You build with inductive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965960"/>
            <a:ext cx="47548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00" b="1">
                <a:solidFill>
                  <a:srgbClr val="059669"/>
                </a:solidFill>
                <a:latin typeface="Consolas"/>
              </a:rPr>
              <a:t>inductive</a:t>
            </a:r>
            <a:r>
              <a:rPr sz="1200" b="0">
                <a:solidFill>
                  <a:srgbClr val="333333"/>
                </a:solidFill>
                <a:latin typeface="Calibri"/>
              </a:rPr>
              <a:t>  →  the main mechanism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1A1A1A"/>
                </a:solidFill>
                <a:latin typeface="Consolas"/>
              </a:rPr>
              <a:t>  Your Color, MyNat, Point ...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1A1A1A"/>
                </a:solidFill>
                <a:latin typeface="Consolas"/>
              </a:rPr>
              <a:t>  AND Nat, Bool, List!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  (they live in the Init library, auto-loaded at startup, but they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   are written exactly like your Color; String is a structure —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>   see below)</a:t>
            </a:r>
          </a:p>
          <a:p>
            <a:pPr>
              <a:spcAft>
                <a:spcPts val="100"/>
              </a:spcAft>
            </a:pPr>
            <a:r>
              <a:rPr sz="1200" b="0">
                <a:solidFill>
                  <a:srgbClr val="333333"/>
                </a:solidFill>
                <a:latin typeface="Calibri"/>
              </a:rPr>
              <a:t/>
            </a:r>
          </a:p>
          <a:p>
            <a:pPr>
              <a:spcAft>
                <a:spcPts val="100"/>
              </a:spcAft>
            </a:pPr>
            <a:r>
              <a:rPr sz="1200" b="1">
                <a:solidFill>
                  <a:srgbClr val="059669"/>
                </a:solidFill>
                <a:latin typeface="Consolas"/>
              </a:rPr>
              <a:t>structure</a:t>
            </a:r>
            <a:r>
              <a:rPr sz="1200" b="0">
                <a:solidFill>
                  <a:srgbClr val="333333"/>
                </a:solidFill>
                <a:latin typeface="Calibri"/>
              </a:rPr>
              <a:t>  →  inductive, one constructor</a:t>
            </a:r>
          </a:p>
          <a:p>
            <a:pPr>
              <a:spcAft>
                <a:spcPts val="100"/>
              </a:spcAft>
            </a:pPr>
            <a:r>
              <a:rPr sz="1200" b="1">
                <a:solidFill>
                  <a:srgbClr val="059669"/>
                </a:solidFill>
                <a:latin typeface="Consolas"/>
              </a:rPr>
              <a:t>class</a:t>
            </a:r>
            <a:r>
              <a:rPr sz="1200" b="0">
                <a:solidFill>
                  <a:srgbClr val="333333"/>
                </a:solidFill>
                <a:latin typeface="Calibri"/>
              </a:rPr>
              <a:t>      →  structure + searchable</a:t>
            </a:r>
          </a:p>
          <a:p>
            <a:pPr>
              <a:spcAft>
                <a:spcPts val="100"/>
              </a:spcAft>
            </a:pPr>
            <a:r>
              <a:rPr sz="1200" b="1">
                <a:solidFill>
                  <a:srgbClr val="059669"/>
                </a:solidFill>
                <a:latin typeface="Consolas"/>
              </a:rPr>
              <a:t>abbrev</a:t>
            </a:r>
            <a:r>
              <a:rPr sz="1200" b="0">
                <a:solidFill>
                  <a:srgbClr val="333333"/>
                </a:solidFill>
                <a:latin typeface="Calibri"/>
              </a:rPr>
              <a:t>     →  just a name, not a type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480560"/>
            <a:ext cx="10881360" cy="1691640"/>
          </a:xfrm>
          <a:prstGeom prst="roundRect">
            <a:avLst/>
          </a:prstGeom>
          <a:solidFill>
            <a:srgbClr val="FAFAFA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61772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59669"/>
                </a:solidFill>
                <a:latin typeface="Calibri"/>
              </a:rPr>
              <a:t>Why this matters for this room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047488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These are not two languages. There is exactly ONE way to add a type, and it is </a:t>
            </a:r>
            <a:r>
              <a:rPr sz="1300" b="1">
                <a:solidFill>
                  <a:srgbClr val="059669"/>
                </a:solidFill>
                <a:latin typeface="Consolas"/>
              </a:rPr>
              <a:t>inductive</a:t>
            </a:r>
            <a:r>
              <a:rPr sz="1300" b="0">
                <a:solidFill>
                  <a:srgbClr val="333333"/>
                </a:solidFill>
                <a:latin typeface="Calibri"/>
              </a:rPr>
              <a:t> — structure, class and abbrev are all inductive in disguise (slides 22 to 24).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Every type in Mathlib — Measure, Lp, Distribution, the Sobolev space — was built that way. Learning Lean is not learning a new branch of mathematics; it is learning one keyword that happens to scale to 8,624 files.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59669"/>
                </a:solidFill>
                <a:latin typeface="Calibri"/>
              </a:rPr>
              <a:t>B · inductive · finite choices (an enum)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54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5486400" cy="210312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500">
                <a:solidFill>
                  <a:srgbClr val="1A1A1A"/>
                </a:solidFill>
                <a:latin typeface="Consolas"/>
              </a:rPr>
              <a:t>inductive Color where</a:t>
            </a:r>
          </a:p>
          <a:p>
            <a:pPr algn="l"/>
            <a:r>
              <a:rPr sz="1500">
                <a:solidFill>
                  <a:srgbClr val="1A1A1A"/>
                </a:solidFill>
                <a:latin typeface="Consolas"/>
              </a:rPr>
              <a:t>  | red</a:t>
            </a:r>
          </a:p>
          <a:p>
            <a:pPr algn="l"/>
            <a:r>
              <a:rPr sz="1500">
                <a:solidFill>
                  <a:srgbClr val="1A1A1A"/>
                </a:solidFill>
                <a:latin typeface="Consolas"/>
              </a:rPr>
              <a:t>  | green</a:t>
            </a:r>
          </a:p>
          <a:p>
            <a:pPr algn="l"/>
            <a:r>
              <a:rPr sz="1500">
                <a:solidFill>
                  <a:srgbClr val="1A1A1A"/>
                </a:solidFill>
                <a:latin typeface="Consolas"/>
              </a:rPr>
              <a:t>  | blue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4747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333333"/>
                </a:solidFill>
                <a:latin typeface="Calibri"/>
              </a:rPr>
              <a:t>Now ask what you made: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840480"/>
            <a:ext cx="5486400" cy="118872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400">
                <a:solidFill>
                  <a:srgbClr val="1A1A1A"/>
                </a:solidFill>
                <a:latin typeface="Consolas"/>
              </a:rPr>
              <a:t>#check Color.red   -- Color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onsolas"/>
              </a:rPr>
              <a:t>#check Color       -- Type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123444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59669"/>
                </a:solidFill>
                <a:latin typeface="Calibri"/>
              </a:rPr>
              <a:t>Use it — pattern match ALL cases: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645920"/>
            <a:ext cx="5029200" cy="228600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def isWarm (c : Color) : Bool :=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  match c with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  | .red   =&gt; true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  | .green =&gt; false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  | .blue  =&gt; false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4114800"/>
            <a:ext cx="5029200" cy="91440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#eval isWarm Color.red    -- true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5212080"/>
            <a:ext cx="50292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DC2626"/>
                </a:solidFill>
                <a:latin typeface="Calibri"/>
              </a:rPr>
              <a:t>Note: the match covers all three.</a:t>
            </a:r>
          </a:p>
          <a:p>
            <a:pPr algn="l"/>
            <a:r>
              <a:rPr sz="1200" b="0">
                <a:solidFill>
                  <a:srgbClr val="DC2626"/>
                </a:solidFill>
                <a:latin typeface="Calibri"/>
              </a:rPr>
              <a:t>Miss one and Lean tells you.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59669"/>
                </a:solidFill>
                <a:latin typeface="Calibri"/>
              </a:rPr>
              <a:t>B · inductive · a recursive type (this is how numbers work)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54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5486400" cy="201168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500">
                <a:solidFill>
                  <a:srgbClr val="1A1A1A"/>
                </a:solidFill>
                <a:latin typeface="Consolas"/>
              </a:rPr>
              <a:t>inductive MyNat where</a:t>
            </a:r>
          </a:p>
          <a:p>
            <a:pPr algn="l"/>
            <a:r>
              <a:rPr sz="1500">
                <a:solidFill>
                  <a:srgbClr val="1A1A1A"/>
                </a:solidFill>
                <a:latin typeface="Consolas"/>
              </a:rPr>
              <a:t>  | zero</a:t>
            </a:r>
          </a:p>
          <a:p>
            <a:pPr algn="l"/>
            <a:r>
              <a:rPr sz="1500">
                <a:solidFill>
                  <a:srgbClr val="1A1A1A"/>
                </a:solidFill>
                <a:latin typeface="Consolas"/>
              </a:rPr>
              <a:t>  | succ (n : MyNat)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38328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333333"/>
                </a:solidFill>
                <a:latin typeface="Calibri"/>
              </a:rPr>
              <a:t>Build values from the constructors: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749039"/>
            <a:ext cx="5486400" cy="182880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#check MyNat.zero           -- MyNat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#check MyNat.succ           -- MyNat → MyNat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#check MyNat.succ MyNat.zero -- MyNat ("one")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 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def one  := MyNat.succ MyNat.zero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def two' := MyNat.succ 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13716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 zero : no input, gives one MyNat.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 succ : takes a MyNat, returns a bigger MyNat.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 Every MyNat is either zero, or succ of a smaller one.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 That recursion is exactly what induction proofs follow.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3840480"/>
            <a:ext cx="50292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Calibri"/>
              </a:rPr>
              <a:t>Lean's built-in Nat is defined almost exactly this way.</a:t>
            </a:r>
          </a:p>
          <a:p>
            <a:pPr algn="l"/>
            <a:r>
              <a:rPr sz="1400" b="1">
                <a:solidFill>
                  <a:srgbClr val="059669"/>
                </a:solidFill>
                <a:latin typeface="Calibri"/>
              </a:rPr>
              <a:t>You just rebuilt the natural numbers.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59669"/>
                </a:solidFill>
                <a:latin typeface="Calibri"/>
              </a:rPr>
              <a:t>B · structure · one constructor, named fields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54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5486400" cy="164592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500">
                <a:solidFill>
                  <a:srgbClr val="1A1A1A"/>
                </a:solidFill>
                <a:latin typeface="Consolas"/>
              </a:rPr>
              <a:t>structure Point where</a:t>
            </a:r>
          </a:p>
          <a:p>
            <a:pPr algn="l"/>
            <a:r>
              <a:rPr sz="1500">
                <a:solidFill>
                  <a:srgbClr val="1A1A1A"/>
                </a:solidFill>
                <a:latin typeface="Consolas"/>
              </a:rPr>
              <a:t>  x : Nat</a:t>
            </a:r>
          </a:p>
          <a:p>
            <a:pPr algn="l"/>
            <a:r>
              <a:rPr sz="1500">
                <a:solidFill>
                  <a:srgbClr val="1A1A1A"/>
                </a:solidFill>
                <a:latin typeface="Consolas"/>
              </a:rPr>
              <a:t>  y : Nat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888888"/>
                </a:solidFill>
                <a:latin typeface="Calibri"/>
              </a:rPr>
              <a:t>This is shorthand for: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383280"/>
            <a:ext cx="5486400" cy="118872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-- inductive Point where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--   | mk (x : Nat) (y : Nat) : Point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--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-- one constructor; its arguments ARE the fields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709160"/>
            <a:ext cx="5486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888888"/>
                </a:solidFill>
                <a:latin typeface="Calibri"/>
              </a:rPr>
              <a:t>Two ways to build the same value: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5074920"/>
            <a:ext cx="5486400" cy="109728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def p1 : Point := { x := 3, y := 4 }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def p2 : Point := Point.mk 3 4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-- p1 and p2 are the SAME value.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234440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59669"/>
                </a:solidFill>
                <a:latin typeface="Calibri"/>
              </a:rPr>
              <a:t>Build and read: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1645920"/>
            <a:ext cx="5029200" cy="137160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400">
                <a:solidFill>
                  <a:srgbClr val="1A1A1A"/>
                </a:solidFill>
                <a:latin typeface="Consolas"/>
              </a:rPr>
              <a:t>def p : Point := { x := 3, y := 4 }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onsolas"/>
              </a:rPr>
              <a:t> 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onsolas"/>
              </a:rPr>
              <a:t>#eval p.x    -- 3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onsolas"/>
              </a:rPr>
              <a:t>#eval p.y    -- 4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3200400"/>
            <a:ext cx="502920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structure gives you named fields</a:t>
            </a:r>
          </a:p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and .x / .y projections for free.</a:t>
            </a:r>
          </a:p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It is not a new mechanism.</a:t>
            </a:r>
          </a:p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It is inductive with exactly one</a:t>
            </a:r>
          </a:p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constructor + a name for each field.</a:t>
            </a:r>
          </a:p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In Mathlib, Measure is a structure.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59669"/>
                </a:solidFill>
                <a:latin typeface="Calibri"/>
              </a:rPr>
              <a:t>B · class / instance · a structure Lean can search for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54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280160"/>
            <a:ext cx="6858000" cy="228600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-- named MyAdd because Add already exists in the library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class MyAdd (α : Type) where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  myAdd : α → α → α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 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instance : MyAdd Nat where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  myAdd n m := n + 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137160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class: declares an interface.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instance: provides one implementation.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Lean searches for it automatically.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The real + on Nat works the same way: it finds Add Nat.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931920"/>
            <a:ext cx="109728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You almost never write classes by hand. The point is: class and instance are not new mechanisms. class is a structure marked as searchable. instance is just a value of that structure type. Everything reduces back to inductive.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59669"/>
                </a:solidFill>
                <a:latin typeface="Calibri"/>
              </a:rPr>
              <a:t>B · abbrev · a nickname, not a new type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54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6400800" cy="137160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500">
                <a:solidFill>
                  <a:srgbClr val="1A1A1A"/>
                </a:solidFill>
                <a:latin typeface="Consolas"/>
              </a:rPr>
              <a:t>abbrev Pair := Nat × Nat</a:t>
            </a:r>
          </a:p>
          <a:p>
            <a:pPr algn="l"/>
            <a:r>
              <a:rPr sz="1500">
                <a:solidFill>
                  <a:srgbClr val="1A1A1A"/>
                </a:solidFill>
                <a:latin typeface="Consolas"/>
              </a:rPr>
              <a:t> </a:t>
            </a:r>
          </a:p>
          <a:p>
            <a:pPr algn="l"/>
            <a:r>
              <a:rPr sz="1500">
                <a:solidFill>
                  <a:srgbClr val="1A1A1A"/>
                </a:solidFill>
                <a:latin typeface="Consolas"/>
              </a:rPr>
              <a:t>def myPair : Pair := (3, 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13716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 Pair IS Nat × Nat.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 It does not create a new type.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 It just makes the source shorter.</a:t>
            </a:r>
          </a:p>
          <a:p>
            <a:pPr>
              <a:spcAft>
                <a:spcPts val="400"/>
              </a:spcAft>
            </a:pPr>
            <a:r>
              <a:rPr sz="1400">
                <a:solidFill>
                  <a:srgbClr val="333333"/>
                </a:solidFill>
                <a:latin typeface="Calibri"/>
              </a:rPr>
              <a:t>•  Contrast: inductive really does add a new type.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200400"/>
            <a:ext cx="109728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Consolas"/>
              </a:rPr>
              <a:t>So the hierarchy of "making a type" is:</a:t>
            </a:r>
          </a:p>
          <a:p>
            <a:pPr algn="l"/>
            <a:r>
              <a:rPr sz="1400" b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400" b="0">
                <a:solidFill>
                  <a:srgbClr val="333333"/>
                </a:solidFill>
                <a:latin typeface="Consolas"/>
              </a:rPr>
              <a:t>  inductive  →  genuinely new type, new constructors</a:t>
            </a:r>
          </a:p>
          <a:p>
            <a:pPr algn="l"/>
            <a:r>
              <a:rPr sz="1400" b="0">
                <a:solidFill>
                  <a:srgbClr val="333333"/>
                </a:solidFill>
                <a:latin typeface="Consolas"/>
              </a:rPr>
              <a:t>  structure  →  inductive with one constructor + named fields</a:t>
            </a:r>
          </a:p>
          <a:p>
            <a:pPr algn="l"/>
            <a:r>
              <a:rPr sz="1400" b="0">
                <a:solidFill>
                  <a:srgbClr val="333333"/>
                </a:solidFill>
                <a:latin typeface="Consolas"/>
              </a:rPr>
              <a:t>  class      →  structure + searchability</a:t>
            </a:r>
          </a:p>
          <a:p>
            <a:pPr algn="l"/>
            <a:r>
              <a:rPr sz="1400" b="0">
                <a:solidFill>
                  <a:srgbClr val="333333"/>
                </a:solidFill>
                <a:latin typeface="Consolas"/>
              </a:rPr>
              <a:t>  abbrev     →  not a new type at all, just a name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D97706"/>
                </a:solidFill>
                <a:latin typeface="Calibri"/>
              </a:rPr>
              <a:t>C · The universe staircase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54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6400800" cy="274320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500">
                <a:solidFill>
                  <a:srgbClr val="1A1A1A"/>
                </a:solidFill>
                <a:latin typeface="Consolas"/>
              </a:rPr>
              <a:t>#check (2 + 2 = 4)   -- Prop     (Sort 0)</a:t>
            </a:r>
          </a:p>
          <a:p>
            <a:pPr algn="l"/>
            <a:r>
              <a:rPr sz="1500">
                <a:solidFill>
                  <a:srgbClr val="1A1A1A"/>
                </a:solidFill>
                <a:latin typeface="Consolas"/>
              </a:rPr>
              <a:t>#check 2              -- Nat</a:t>
            </a:r>
          </a:p>
          <a:p>
            <a:pPr algn="l"/>
            <a:r>
              <a:rPr sz="1500">
                <a:solidFill>
                  <a:srgbClr val="1A1A1A"/>
                </a:solidFill>
                <a:latin typeface="Consolas"/>
              </a:rPr>
              <a:t>#check Nat            -- Type     (Sort 1)</a:t>
            </a:r>
          </a:p>
          <a:p>
            <a:pPr algn="l"/>
            <a:r>
              <a:rPr sz="1500">
                <a:solidFill>
                  <a:srgbClr val="1A1A1A"/>
                </a:solidFill>
                <a:latin typeface="Consolas"/>
              </a:rPr>
              <a:t>#check Type           -- Type 1   (Sort 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79" y="13716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Prop: propositions. Proofs live here.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Type: ordinary data types.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Type 1: the type of Type.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In the same spirit as Grothendieck universes.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No 'set of all sets' paradox — you just climb up.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72000"/>
            <a:ext cx="109728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97706"/>
                </a:solidFill>
                <a:latin typeface="Calibri"/>
              </a:rPr>
              <a:t>Before we look at terms: types themselves live on a staircase. Prop at the bottom, Type above it, Type 1 above that — forever upward.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D97706"/>
                </a:solidFill>
                <a:latin typeface="Calibri"/>
              </a:rPr>
              <a:t>C · Terms · five forms you have already used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54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6858000" cy="484632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-- 1. a name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#check two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 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-- 2. application (supply an input)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#check double two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 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-- 3. a lambda (build a function)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#check (fun n =&gt; n + 1 : Nat → Nat)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 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-- 4. a constructor (build a value the declared way)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#check Color.green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 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-- 5. a match (read by constructors)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def describe (c : Color) : String :=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  match c with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  | .red   =&gt; "warm"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  | .green =&gt; "ok"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  | .blue  =&gt; "cold"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137160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Each form has its own shape.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two and double two do not look alike.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match must cover every constructor.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This is the vocabulary of expressions.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D97706"/>
                </a:solidFill>
                <a:latin typeface="Calibri"/>
              </a:rPr>
              <a:t>C · Three tools that look similar but do different jobs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54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6858000" cy="484632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-- let: name a local VALUE inside a term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def f : Nat :=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  let y := 6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  y + 1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-- #eval f  =&gt; 7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 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-- have: name a local FACT inside a proof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example : 0 = 0 := by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  have h : 0 = 0 := rfl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  exact h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 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-- .1: read one field of a pair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def g : Nat :=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  let p := (3, true)</a:t>
            </a:r>
          </a:p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  p.1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137160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let lives in term mode.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have lives in proof mode (by ...).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.1 / .2 read pair fields.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Mixing them up is common. Notice where each is allowed.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D97706"/>
                </a:solidFill>
                <a:latin typeface="Calibri"/>
              </a:rPr>
              <a:t>C · → and ∀ are the same thing (Pi type)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54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6858000" cy="256032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400">
                <a:solidFill>
                  <a:srgbClr val="1A1A1A"/>
                </a:solidFill>
                <a:latin typeface="Consolas"/>
              </a:rPr>
              <a:t>-- Non-dependent: result does NOT mention the input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onsolas"/>
              </a:rPr>
              <a:t>#check (Nat → Nat)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onsolas"/>
              </a:rPr>
              <a:t> 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onsolas"/>
              </a:rPr>
              <a:t>-- Dependent: result DOES mention n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onsolas"/>
              </a:rPr>
              <a:t>#check ((n : Nat) → 0 + n = 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Calibri"/>
              </a:rPr>
              <a:t>Lean prints the dependent arrow as ∀ — they are the same thing: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572000"/>
            <a:ext cx="10058400" cy="91440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400">
                <a:solidFill>
                  <a:srgbClr val="1A1A1A"/>
                </a:solidFill>
                <a:latin typeface="Consolas"/>
              </a:rPr>
              <a:t>-- Lean's output for #check above (Mathlib imported):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onsolas"/>
              </a:rPr>
              <a:t>--   ℕ → ℕ : Type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onsolas"/>
              </a:rPr>
              <a:t>--   ∀ (n : ℕ), 0 + n = n : Prop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888888"/>
                </a:solidFill>
                <a:latin typeface="Calibri"/>
              </a:rPr>
              <a:t>The lambda calculus is the math underneath: fun n =&gt; ... IS a lambda. =&gt; lives inside fun / match.  ← and &lt;-&gt; are not types.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D97706"/>
                </a:solidFill>
                <a:latin typeface="Calibri"/>
              </a:rPr>
              <a:t>C · A constructor is one allowed way to build a term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54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2560320" cy="50292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Color.red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83280" y="141732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no input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0" y="1417320"/>
            <a:ext cx="5943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Calibri"/>
              </a:rPr>
              <a:t>one of three choices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48840"/>
            <a:ext cx="2560320" cy="50292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MyNat.succ 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219456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one 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2194560"/>
            <a:ext cx="5943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Calibri"/>
              </a:rPr>
              <a:t>build a bigger MyNat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926080"/>
            <a:ext cx="2560320" cy="50292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And.intro hp hq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297180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two proofs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2971800"/>
            <a:ext cx="5943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Calibri"/>
              </a:rPr>
              <a:t>build P ∧ Q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703320"/>
            <a:ext cx="2560320" cy="50292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⟨w, h⟩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3749039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witness+proof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0" y="3749039"/>
            <a:ext cx="5943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Calibri"/>
              </a:rPr>
              <a:t>build ∃ k, P 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480559"/>
            <a:ext cx="2560320" cy="50292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300">
                <a:solidFill>
                  <a:srgbClr val="1A1A1A"/>
                </a:solidFill>
                <a:latin typeface="Consolas"/>
              </a:rPr>
              <a:t>rfl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4526279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no input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0" y="4526279"/>
            <a:ext cx="5943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Calibri"/>
              </a:rPr>
              <a:t>Eq.refl when sides match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66928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D97706"/>
                </a:solidFill>
                <a:latin typeface="Calibri"/>
              </a:rPr>
              <a:t>The constructors of a type are exactly the ways Lean lets you build it. match reads them back.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1A1A1A"/>
                </a:solidFill>
                <a:latin typeface="Calibri"/>
              </a:rPr>
              <a:t>One inductive, three ways you touch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54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640080" y="1371600"/>
            <a:ext cx="411480" cy="41148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41732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Calibri"/>
              </a:rPr>
              <a:t>Declare (slide 21)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5303520" cy="137160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-- inductive MyNat where   (already declared on slide 21)</a:t>
            </a:r>
          </a:p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--   | zero</a:t>
            </a:r>
          </a:p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--   | succ (n : MyNat)</a:t>
            </a:r>
          </a:p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-- You do not re-declare it here.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3474720"/>
            <a:ext cx="411480" cy="411480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520439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D97706"/>
                </a:solidFill>
                <a:latin typeface="Calibri"/>
              </a:rPr>
              <a:t>Build / read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931920"/>
            <a:ext cx="5303520" cy="164592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#check MyNat.succ MyNat.zero</a:t>
            </a:r>
          </a:p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 </a:t>
            </a:r>
          </a:p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-- match reads one constructor at a time</a:t>
            </a:r>
          </a:p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-- (see describe in practice file)</a:t>
            </a:r>
          </a:p>
        </p:txBody>
      </p:sp>
      <p:sp>
        <p:nvSpPr>
          <p:cNvPr id="10" name="Oval 9"/>
          <p:cNvSpPr/>
          <p:nvPr/>
        </p:nvSpPr>
        <p:spPr>
          <a:xfrm>
            <a:off x="6400800" y="1371600"/>
            <a:ext cx="411480" cy="41148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03720" y="1417320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7C3AED"/>
                </a:solidFill>
                <a:latin typeface="Calibri"/>
              </a:rPr>
              <a:t>Prove (shape only)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828800"/>
            <a:ext cx="5120640" cy="274320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-- (shape only — not runnable here)</a:t>
            </a:r>
          </a:p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-- induction n with</a:t>
            </a:r>
          </a:p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-- | zero   =&gt; rfl</a:t>
            </a:r>
          </a:p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-- | succ k ih =&gt;</a:t>
            </a:r>
          </a:p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--   rw [...]  -- see slide 32 for the</a:t>
            </a:r>
          </a:p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--             -- fully worked example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4754880"/>
            <a:ext cx="5120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induction follows the constructors.</a:t>
            </a:r>
          </a:p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zero case, then succ case with an</a:t>
            </a:r>
          </a:p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induction hypothesis ih.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7C3AED"/>
                </a:solidFill>
                <a:latin typeface="Calibri"/>
              </a:rPr>
              <a:t>D · Proof strategies · tactics help you build a C term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5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2011680" cy="50292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400">
                <a:solidFill>
                  <a:srgbClr val="1A1A1A"/>
                </a:solidFill>
                <a:latin typeface="Consolas"/>
              </a:rPr>
              <a:t>intro 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834640" y="1417320"/>
            <a:ext cx="8686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Assume n. Starts a function term.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2011680" cy="50292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400">
                <a:solidFill>
                  <a:srgbClr val="1A1A1A"/>
                </a:solidFill>
                <a:latin typeface="Consolas"/>
              </a:rPr>
              <a:t>exact 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2148839"/>
            <a:ext cx="8686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Hand over h. h must match the goal's type.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34639"/>
            <a:ext cx="2011680" cy="50292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400">
                <a:solidFill>
                  <a:srgbClr val="1A1A1A"/>
                </a:solidFill>
                <a:latin typeface="Consolas"/>
              </a:rPr>
              <a:t>rfl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880359"/>
            <a:ext cx="8686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Close a definitional equality.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566159"/>
            <a:ext cx="2011680" cy="50292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400">
                <a:solidFill>
                  <a:srgbClr val="1A1A1A"/>
                </a:solidFill>
                <a:latin typeface="Consolas"/>
              </a:rPr>
              <a:t>rw [h]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3611879"/>
            <a:ext cx="8686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Rewrite with h. Leaves a new goal.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297679"/>
            <a:ext cx="2011680" cy="50292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400">
                <a:solidFill>
                  <a:srgbClr val="1A1A1A"/>
                </a:solidFill>
                <a:latin typeface="Consolas"/>
              </a:rPr>
              <a:t>sorry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4343399"/>
            <a:ext cx="8686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333333"/>
                </a:solidFill>
                <a:latin typeface="Calibri"/>
              </a:rPr>
              <a:t>Leave an explicit gap. Not a proof.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486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888888"/>
                </a:solidFill>
                <a:latin typeface="Calibri"/>
              </a:rPr>
              <a:t>Tactics are not the stored proof. The kernel stores the resulting C term. Tactics are a meta-program that helps you write that term.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7C3AED"/>
                </a:solidFill>
                <a:latin typeface="Calibri"/>
              </a:rPr>
              <a:t>D · One complete proof, every step visible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54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1234440"/>
            <a:ext cx="6858000" cy="5029200"/>
          </a:xfrm>
          <a:prstGeom prst="roundRect">
            <a:avLst/>
          </a:prstGeom>
          <a:solidFill>
            <a:srgbClr val="F4F4F4"/>
          </a:solidFill>
          <a:ln w="635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73152" tIns="36576" bIns="36576"/>
          <a:lstStyle/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theorem nat_zero_add (n : Nat) : 0 + n = n := by</a:t>
            </a:r>
          </a:p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  -- goal: 0 + n = n</a:t>
            </a:r>
          </a:p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  induction n with</a:t>
            </a:r>
          </a:p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  | zero =&gt;</a:t>
            </a:r>
          </a:p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    -- goal: 0 + 0 = 0</a:t>
            </a:r>
          </a:p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    rfl</a:t>
            </a:r>
          </a:p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  | succ k ih =&gt;</a:t>
            </a:r>
          </a:p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    -- ih : 0 + k = k</a:t>
            </a:r>
          </a:p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    -- goal: 0 + succ k = succ k</a:t>
            </a:r>
          </a:p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    rw [Nat.add_succ]</a:t>
            </a:r>
          </a:p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    -- goal: succ (0 + k) = succ k</a:t>
            </a:r>
          </a:p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    rw [ih]</a:t>
            </a:r>
          </a:p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    -- goal: succ k = succ k (rw closes it)</a:t>
            </a:r>
          </a:p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-- note: core already has Nat.zero_add;</a:t>
            </a:r>
          </a:p>
          <a:p>
            <a:pPr algn="l"/>
            <a:r>
              <a:rPr sz="1200">
                <a:solidFill>
                  <a:srgbClr val="1A1A1A"/>
                </a:solidFill>
                <a:latin typeface="Consolas"/>
              </a:rPr>
              <a:t>-- we rename it to avoid a name collision.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137160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 induction splits on the constructors.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zero case closes by rfl.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succ case: rewrite, rewrite, rfl.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333333"/>
                </a:solidFill>
                <a:latin typeface="Calibri"/>
              </a:rPr>
              <a:t>•  Watch the infoview after each line.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D97706"/>
                </a:solidFill>
                <a:latin typeface="Calibri"/>
              </a:rPr>
              <a:t>Where the analysis stands in Lean today (measured, not guessed)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10881360" cy="2540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024128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333333"/>
                </a:solidFill>
                <a:latin typeface="Calibri"/>
              </a:rPr>
              <a:t>Lean 4.35.0 + Mathlib, 8,624 .lean files. Every green line was #check-ed on this machine; every red line was grepped for and got zero hits.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08760"/>
            <a:ext cx="5486400" cy="429768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27632"/>
            <a:ext cx="5029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059669"/>
                </a:solidFill>
                <a:latin typeface="Calibri"/>
              </a:rPr>
              <a:t>Already in Mathlib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10312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✓  </a:t>
            </a:r>
            <a:r>
              <a:rPr sz="1200" b="1">
                <a:solidFill>
                  <a:srgbClr val="1A1A1A"/>
                </a:solidFill>
                <a:latin typeface="Calibri"/>
              </a:rPr>
              <a:t>Measure &amp; integration</a:t>
            </a:r>
          </a:p>
          <a:p>
            <a:pPr>
              <a:spcAft>
                <a:spcPts val="0"/>
              </a:spcAft>
            </a:pPr>
            <a:r>
              <a:rPr sz="1000" b="0">
                <a:solidFill>
                  <a:srgbClr val="888888"/>
                </a:solidFill>
                <a:latin typeface="Consolas"/>
              </a:rPr>
              <a:t>     MeasureTheory.Measure, .integral, .Integrable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06039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✓  </a:t>
            </a:r>
            <a:r>
              <a:rPr sz="1200" b="1">
                <a:solidFill>
                  <a:srgbClr val="1A1A1A"/>
                </a:solidFill>
                <a:latin typeface="Calibri"/>
              </a:rPr>
              <a:t>Lp spaces</a:t>
            </a:r>
          </a:p>
          <a:p>
            <a:pPr>
              <a:spcAft>
                <a:spcPts val="0"/>
              </a:spcAft>
            </a:pPr>
            <a:r>
              <a:rPr sz="1000" b="0">
                <a:solidFill>
                  <a:srgbClr val="888888"/>
                </a:solidFill>
                <a:latin typeface="Consolas"/>
              </a:rPr>
              <a:t>     MeasureTheory.Lp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108959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✓  </a:t>
            </a:r>
            <a:r>
              <a:rPr sz="1200" b="1">
                <a:solidFill>
                  <a:srgbClr val="1A1A1A"/>
                </a:solidFill>
                <a:latin typeface="Calibri"/>
              </a:rPr>
              <a:t>Distributions, tests</a:t>
            </a:r>
          </a:p>
          <a:p>
            <a:pPr>
              <a:spcAft>
                <a:spcPts val="0"/>
              </a:spcAft>
            </a:pPr>
            <a:r>
              <a:rPr sz="1000" b="0">
                <a:solidFill>
                  <a:srgbClr val="888888"/>
                </a:solidFill>
                <a:latin typeface="Consolas"/>
              </a:rPr>
              <a:t>     Distribution, TestFunction, SchwartzMap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611879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✓  </a:t>
            </a:r>
            <a:r>
              <a:rPr sz="1200" b="1">
                <a:solidFill>
                  <a:srgbClr val="1A1A1A"/>
                </a:solidFill>
                <a:latin typeface="Calibri"/>
              </a:rPr>
              <a:t>Sobolev space (a type)</a:t>
            </a:r>
          </a:p>
          <a:p>
            <a:pPr>
              <a:spcAft>
                <a:spcPts val="0"/>
              </a:spcAft>
            </a:pPr>
            <a:r>
              <a:rPr sz="1000" b="0">
                <a:solidFill>
                  <a:srgbClr val="888888"/>
                </a:solidFill>
                <a:latin typeface="Consolas"/>
              </a:rPr>
              <a:t>     BesselPotentialSpace  =  H^{s, p}(E,F)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114799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✓  </a:t>
            </a:r>
            <a:r>
              <a:rPr sz="1200" b="1">
                <a:solidFill>
                  <a:srgbClr val="1A1A1A"/>
                </a:solidFill>
                <a:latin typeface="Calibri"/>
              </a:rPr>
              <a:t>Sobolev inequality</a:t>
            </a:r>
          </a:p>
          <a:p>
            <a:pPr>
              <a:spcAft>
                <a:spcPts val="0"/>
              </a:spcAft>
            </a:pPr>
            <a:r>
              <a:rPr sz="1000" b="0">
                <a:solidFill>
                  <a:srgbClr val="888888"/>
                </a:solidFill>
                <a:latin typeface="Consolas"/>
              </a:rPr>
              <a:t>     MeasureTheory.eLpNorm_le_eLpNorm_fderiv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617719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✓  </a:t>
            </a:r>
            <a:r>
              <a:rPr sz="1200" b="1">
                <a:solidFill>
                  <a:srgbClr val="1A1A1A"/>
                </a:solidFill>
                <a:latin typeface="Calibri"/>
              </a:rPr>
              <a:t>Laplacian, harmonic fns</a:t>
            </a:r>
          </a:p>
          <a:p>
            <a:pPr>
              <a:spcAft>
                <a:spcPts val="0"/>
              </a:spcAft>
            </a:pPr>
            <a:r>
              <a:rPr sz="1000" b="0">
                <a:solidFill>
                  <a:srgbClr val="888888"/>
                </a:solidFill>
                <a:latin typeface="Consolas"/>
              </a:rPr>
              <a:t>     InnerProductSpace.laplacian, HarmonicAt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120639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059669"/>
                </a:solidFill>
                <a:latin typeface="Calibri"/>
              </a:rPr>
              <a:t>✓  </a:t>
            </a:r>
            <a:r>
              <a:rPr sz="1200" b="1">
                <a:solidFill>
                  <a:srgbClr val="1A1A1A"/>
                </a:solidFill>
                <a:latin typeface="Calibri"/>
              </a:rPr>
              <a:t>Gronwall, Fourier</a:t>
            </a:r>
          </a:p>
          <a:p>
            <a:pPr>
              <a:spcAft>
                <a:spcPts val="0"/>
              </a:spcAft>
            </a:pPr>
            <a:r>
              <a:rPr sz="1000" b="0">
                <a:solidFill>
                  <a:srgbClr val="888888"/>
                </a:solidFill>
                <a:latin typeface="Consolas"/>
              </a:rPr>
              <a:t>     gronwallBound, IsPicardLindelof, FourierTransform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508760"/>
            <a:ext cx="5257800" cy="429768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1627632"/>
            <a:ext cx="48463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DC2626"/>
                </a:solidFill>
                <a:latin typeface="Calibri"/>
              </a:rPr>
              <a:t>Not there (grep over all 8,624 files)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194560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Calibri"/>
              </a:rPr>
              <a:t>✗  </a:t>
            </a:r>
            <a:r>
              <a:rPr sz="1200" b="1">
                <a:solidFill>
                  <a:srgbClr val="1A1A1A"/>
                </a:solidFill>
                <a:latin typeface="Calibri"/>
              </a:rPr>
              <a:t>curl</a:t>
            </a:r>
            <a:r>
              <a:rPr sz="1000" b="0">
                <a:solidFill>
                  <a:srgbClr val="888888"/>
                </a:solidFill>
                <a:latin typeface="Consolas"/>
              </a:rPr>
              <a:t>   0 hits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615184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Calibri"/>
              </a:rPr>
              <a:t>✗  </a:t>
            </a:r>
            <a:r>
              <a:rPr sz="1200" b="1">
                <a:solidFill>
                  <a:srgbClr val="1A1A1A"/>
                </a:solidFill>
                <a:latin typeface="Calibri"/>
              </a:rPr>
              <a:t>mollifiers / smoothing</a:t>
            </a:r>
            <a:r>
              <a:rPr sz="1000" b="0">
                <a:solidFill>
                  <a:srgbClr val="888888"/>
                </a:solidFill>
                <a:latin typeface="Consolas"/>
              </a:rPr>
              <a:t>   0 hits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3035808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Calibri"/>
              </a:rPr>
              <a:t>✗  </a:t>
            </a:r>
            <a:r>
              <a:rPr sz="1200" b="1">
                <a:solidFill>
                  <a:srgbClr val="1A1A1A"/>
                </a:solidFill>
                <a:latin typeface="Calibri"/>
              </a:rPr>
              <a:t>vorticity, transport eq.</a:t>
            </a:r>
            <a:r>
              <a:rPr sz="1000" b="0">
                <a:solidFill>
                  <a:srgbClr val="888888"/>
                </a:solidFill>
                <a:latin typeface="Consolas"/>
              </a:rPr>
              <a:t>   0 hits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3456432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Calibri"/>
              </a:rPr>
              <a:t>✗  </a:t>
            </a:r>
            <a:r>
              <a:rPr sz="1200" b="1">
                <a:solidFill>
                  <a:srgbClr val="1A1A1A"/>
                </a:solidFill>
                <a:latin typeface="Calibri"/>
              </a:rPr>
              <a:t>Euler equations</a:t>
            </a:r>
            <a:r>
              <a:rPr sz="1000" b="0">
                <a:solidFill>
                  <a:srgbClr val="888888"/>
                </a:solidFill>
                <a:latin typeface="Consolas"/>
              </a:rPr>
              <a:t>   0 hits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3877056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Calibri"/>
              </a:rPr>
              <a:t>✗  </a:t>
            </a:r>
            <a:r>
              <a:rPr sz="1200" b="1">
                <a:solidFill>
                  <a:srgbClr val="1A1A1A"/>
                </a:solidFill>
                <a:latin typeface="Calibri"/>
              </a:rPr>
              <a:t>weak solution spaces</a:t>
            </a:r>
            <a:r>
              <a:rPr sz="1000" b="0">
                <a:solidFill>
                  <a:srgbClr val="888888"/>
                </a:solidFill>
                <a:latin typeface="Consolas"/>
              </a:rPr>
              <a:t>   0 hits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4297680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Calibri"/>
              </a:rPr>
              <a:t>✗  </a:t>
            </a:r>
            <a:r>
              <a:rPr sz="1200" b="1">
                <a:solidFill>
                  <a:srgbClr val="1A1A1A"/>
                </a:solidFill>
                <a:latin typeface="Calibri"/>
              </a:rPr>
              <a:t>Navier-Stokes</a:t>
            </a:r>
            <a:r>
              <a:rPr sz="1000" b="0">
                <a:solidFill>
                  <a:srgbClr val="888888"/>
                </a:solidFill>
                <a:latin typeface="Consolas"/>
              </a:rPr>
              <a:t>   0 hits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4718304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Calibri"/>
              </a:rPr>
              <a:t>✗  </a:t>
            </a:r>
            <a:r>
              <a:rPr sz="1200" b="1">
                <a:solidFill>
                  <a:srgbClr val="1A1A1A"/>
                </a:solidFill>
                <a:latin typeface="Calibri"/>
              </a:rPr>
              <a:t>Stokes' theorem</a:t>
            </a:r>
            <a:r>
              <a:rPr sz="1000" b="0">
                <a:solidFill>
                  <a:srgbClr val="888888"/>
                </a:solidFill>
                <a:latin typeface="Consolas"/>
              </a:rPr>
              <a:t>   1 hit, in a docstring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60" y="5138928"/>
            <a:ext cx="4892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DC2626"/>
                </a:solidFill>
                <a:latin typeface="Calibri"/>
              </a:rPr>
              <a:t>✗  </a:t>
            </a:r>
            <a:r>
              <a:rPr sz="1200" b="1">
                <a:solidFill>
                  <a:srgbClr val="1A1A1A"/>
                </a:solidFill>
                <a:latin typeface="Calibri"/>
              </a:rPr>
              <a:t>a PDE library</a:t>
            </a:r>
            <a:r>
              <a:rPr sz="1000" b="0">
                <a:solidFill>
                  <a:srgbClr val="888888"/>
                </a:solidFill>
                <a:latin typeface="Consolas"/>
              </a:rPr>
              <a:t>   no Analysis/PDE dir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925312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300" b="0">
                <a:solidFill>
                  <a:srgbClr val="333333"/>
                </a:solidFill>
                <a:latin typeface="Calibri"/>
              </a:rPr>
              <a:t>Mathlib has the Laplacian, but not </a:t>
            </a:r>
            <a:r>
              <a:rPr sz="1300" b="1">
                <a:solidFill>
                  <a:srgbClr val="DC2626"/>
                </a:solidFill>
                <a:latin typeface="Calibri"/>
              </a:rPr>
              <a:t>curl</a:t>
            </a:r>
            <a:r>
              <a:rPr sz="1300" b="0">
                <a:solidFill>
                  <a:srgbClr val="333333"/>
                </a:solidFill>
                <a:latin typeface="Calibri"/>
              </a:rPr>
              <a:t> — the analysis layer is there; the PDE layer is not. That gap is where this group's expertise lives.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6492240"/>
            <a:ext cx="731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000" b="0">
                <a:solidFill>
                  <a:srgbClr val="888888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Map of Lean 4</dc:title>
  <dc:subject>Lean 4 for a 2D Euler research group: what Lean knows, how to name things, how to prove things</dc:subject>
  <dc:creator>Research group meeting</dc:creator>
  <cp:keywords>Lean 4; Mathlib; 2D Euler; PDE; formalization; teaching</cp:keywords>
  <dc:description>v16.0. Audience: PDE people, computer-science beginners. Every code block compiled on Lean 4.35.0 + Mathlib. Speaker notes carry the per-slide time budget.</dc:description>
  <cp:lastModifiedBy>mavis</cp:lastModifiedBy>
  <cp:revision>6</cp:revision>
  <dcterms:created xsi:type="dcterms:W3CDTF">2026-10-29T00:00:00Z</dcterms:created>
  <dcterms:modified xsi:type="dcterms:W3CDTF">2026-10-29T00:00:00Z</dcterms:modified>
  <cp:category>teaching</cp:category>
</cp:coreProperties>
</file>