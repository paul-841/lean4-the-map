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Calibri"/>
              </a:rPr>
              <a:t>The Map of Lean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Calibri"/>
              </a:rPr>
              <a:t>v16.3  ·  Research group meeting  ·  29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For this room: PDE is home turf, Lean is not. No computer science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First: what Lean already knows.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Then: how to name it and build on it.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Along the way: where each word lives (A/B/C/D).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Open Lean4_practice.lean alongside this deck. Type as we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We end on the gap: the analysis layer is there; the PDE layer is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The premise: mathematics is larger, Lean checks a fragment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Mathematics: ideas, definitions, examples, proofs in ordinary language.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4: a formal language. A small kernel checks that a term has the stated type.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does NOT decide whether your formalization matches the math you meant.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Start from the mathematics. Use Lean to make one piece checkable.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Three ideas to keep in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Curry–Howard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Propositions are types. Proofs are terms of those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Meaning 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 symbol never touches its referent directly. Thought mediates.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Desirable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977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Retrieval and spacing help. You will get confused on purpose.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computation? Two answers, one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Turing (1936)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infinite tape divided into cells.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read/write head moves left and right.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At each step: read the cell, decide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to write, move, change state.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That is the whole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Church (1936)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No tape, no states. Everything is a function.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Three rules only: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x        a variable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λx. e    a function (input x, body 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f a      apply f to a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That is the whole calculus.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They proved these two models have the same power. This equivalence is a pillar of the Church-Turing thesis. Lean's kernel is a typed lambda calculus.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a proof? From Hilbert to machine-checking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Hilbert (1900): write all mathematics as axioms + fixed inference rules. Then a proof is mechanical — no intuition needed.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Gödel (1931): no system strong enough for arithmetic can prove its own consistency. But this does NOT kill the project — it says you cannot do it from inside.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What survives: a single proof can still be written so a machine checks every step. That is what Lean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What is a proof, concretely?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Start from axioms. Apply inference rules one at a time.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The most basic rule: modus ponens — if you have P→Q and P, you may conclude Q.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step is mechanical. A machine can verify that no step was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(1): propositions are types, proofs are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1.  A proposition P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a type</a:t>
            </a:r>
            <a:r>
              <a:rPr sz="1500" b="0">
                <a:solidFill>
                  <a:srgbClr val="888888"/>
                </a:solidFill>
                <a:latin typeface="Calibri"/>
              </a:rPr>
              <a:t>   (Prop is the bottom level of Lean's universe)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2.  A proof of P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a term</a:t>
            </a:r>
            <a:r>
              <a:rPr sz="1500" b="0">
                <a:solidFill>
                  <a:srgbClr val="888888"/>
                </a:solidFill>
                <a:latin typeface="Calibri"/>
              </a:rPr>
              <a:t>   of that type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3.  So </a:t>
            </a:r>
            <a:r>
              <a:rPr sz="1500" b="1">
                <a:solidFill>
                  <a:srgbClr val="7C3AED"/>
                </a:solidFill>
                <a:latin typeface="Consolas"/>
              </a:rPr>
              <a:t>P → Q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the function type</a:t>
            </a:r>
            <a:r>
              <a:rPr sz="1500" b="0">
                <a:solidFill>
                  <a:srgbClr val="333333"/>
                </a:solidFill>
                <a:latin typeface="Calibri"/>
              </a:rPr>
              <a:t>, and its proof is a </a:t>
            </a:r>
            <a:r>
              <a:rPr sz="1500" b="1">
                <a:solidFill>
                  <a:srgbClr val="7C3AED"/>
                </a:solidFill>
                <a:latin typeface="Calibri"/>
              </a:rPr>
              <a:t>function</a:t>
            </a:r>
            <a:r>
              <a:rPr sz="1500" b="0">
                <a:solidFill>
                  <a:srgbClr val="333333"/>
                </a:solidFill>
                <a:latin typeface="Calibri"/>
              </a:rPr>
              <a:t>: takes a proof of P, returns a proof of 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0881360" cy="1600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Logic: "P implies Q" means you can build Q from P.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Program: a function P → Q does exactly that.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modus_ponens (P Q : Prop) : (P → Q) → P → Q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intro f p  -- assume f : P → Q, p : P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f p  -- apply the method to 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Modus ponens (logic): from P→Q and P, conclude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Function application (program): from f : P→Q and p : P, get f p :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Same rule. Same shape. Lean sees them as ONE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(2): logic / type / category — one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Type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Category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∧ 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×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270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270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BOTH proofs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∨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⊕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4767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coproduct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476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EITHER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6829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exponential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6829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P→Q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¬P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889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function to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 implies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↔ 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Iff P 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0954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hom-set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0954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both directions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∀ x, P(x)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Π x, P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3016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301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x→proof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∃ x, P(x)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Σ x, P 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50791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sum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05079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pair: x + proof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x = 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Eq x 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47141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identity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714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proof of equality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Unit/True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920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terminal obj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892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trivial proof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Empty/False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31266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initial obj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3126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no proof at 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74243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Three names for one thing. ¬P = P→False. P↔Q = Iff (a structure holding two functions). x=y = Eq x 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6305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888888"/>
                </a:solidFill>
                <a:latin typeface="Calibri"/>
              </a:rPr>
              <a:t>Notation: logic books write implication with one arrow (→). Type-theory texts also use a double arrow (</a:t>
            </a:r>
            <a:r>
              <a:rPr sz="1000" b="0">
                <a:solidFill>
                  <a:srgbClr val="888888"/>
                </a:solidFill>
                <a:latin typeface="Cambria Math"/>
              </a:rPr>
              <a:t>⇒</a:t>
            </a:r>
            <a:r>
              <a:rPr sz="1000" b="0">
                <a:solidFill>
                  <a:srgbClr val="888888"/>
                </a:solidFill>
                <a:latin typeface="Calibri"/>
              </a:rPr>
              <a:t>) to tell the two readings of A→B apart. Lean has only → — the function type and the implication are the same thing.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(2b): why ∀ is a function, ∃ is a 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∀ x, P(x)  — give me x, I return a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"for all n, 0+n = n" means: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give me any n, I give you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(n : Nat) → 0 + n = n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intro 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zero =&gt;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succ k ih =&gt; rw [Nat.add_succ, ih]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this IS a function.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n is the input, the body returns the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∃ x, P(x)  — I hand you x AND a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"there exists k such that 4 = 2*k"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means: I give you k=2, AND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∃ k : Nat, 4 = 2 * k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refine ⟨2, ?_⟩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refine ⟨2, ?_⟩: give the pair, leave me a hole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⟨2, rfl⟩ is a PAIR: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first field  = 2  (the witness)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second field = proof that 4=2*2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P(x) varies with x: P(0) = "0=0" (has proof), P(1) = "1=0" (no proof).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Π x, P(x)  = a function that gives a proof for EVERY x.  Σ x, P(x)  = one specific x + its proof.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∀ = Π = function.  ∃ = Σ = pair.  Lean writes ∀ as (x : α) → P x, ∃ as ⟨witness, proof⟩.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(3): proof = program, checked = compiled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Proving a theorem  =  writing a function whose type is the theorem statement.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Checking a proof   =  the type checker verifying that function.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Simplifying a proof =  running / evaluating the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1088136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↑ this is a proof.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It is also a term of type (2 + 2 = 4).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rfl checks that 2+2 and 4 reduce to the same thing.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That is β/iota reduction doing its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Lean's kernel does one thing: check types. It has no idea it is also checking proofs.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What IS a type? Four rules — not a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type is NOT a collection of elements. It is COMPLETELY DEFINED by four rules. Example: the function type A → 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1.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A : Type and B : Type, then A → B :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847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is this a valid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2.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5146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x : A gives t : B, then (fun x =&gt; t) : A →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328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BUILD a term? (lambda / constructor)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3. Elimination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2004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f : A → B and a : A, then f a :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18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USE a term? (application / match)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4. Computation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8862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(fun x =&gt; t) a  reduces to  t[a/x].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904487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What happens when intro meets elim? (beta reduction)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No analogy. No 'set of functions'. The four rules ARE the definition. Every type you meet — Nat, Sum, Sigma, Empty — works the same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The four rules, in 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you write  inductive / def /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898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declare: this is a type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constructors:  Nat.zero, Nat.succ, Or.inl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299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these are the ONLY ways to make a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Elimination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5176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match / recursor:  Nat.rec, Or.casesOn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700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the ONLY way to USE a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Computation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29184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kernel reduces automatically;  rfl  checks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intro meets elim → simplification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you write  inductive Nat where  | zero  | succ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give the INTRODUCTION rules. Lean auto-generates the ELIMINATOR (Nat.rec) and COMPUTATION rules.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why inductive is the single most powerful keyword in Lean: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declaration pins down all four rules — the keyword gives FORMATION,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write INTRODUCTION, Lean generates ELIMINATION and COMPUTATION.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Precision: introduction &amp; computation are per-constructor; formation &amp; elimination are per-type (one recursor).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 rules for Type u itself — variables, conversion, universes — are the same four rules one level up. You never declare those.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glue: syntax symbols — not a home, but you see them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Before the four homes: these symbols themselves are not terms — but expressions built from them DO have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Four bracket types: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 e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8424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grouping, function application:  f (x+1)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0008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{x : α}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6829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implicit arg — caller omits, Lean infers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34056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[inst : C]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52344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instance arg — Lean searches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18103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⟨a, b⟩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36391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anonymous constructor — build a pair/struct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Other glue: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4164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has type:  n : Nat   (left of : is a term, right is its type)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083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3891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defined as:  def x := 5   (the body equals the name)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18304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365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arrow:  Nat → Nat   (also written as function type)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65776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08406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placeholder: Lean figures it out for you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13248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43153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case separator: inductive constructors, match arms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6072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779007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focus block: in by-mode, start proving the current goal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610819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612647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command: #check, #eval — ask Lean a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Every word lives in one of four homes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5544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ask Lean about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#check, #eval, import, open, namespace.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  <a:latin typeface="Calibri"/>
              </a:rPr>
              <a:t>Declaration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add something new to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def, inductive, structure, theorem.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402336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Calibri"/>
              </a:rPr>
              <a:t>Term /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expression itself.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2, fun n =&gt; n+1, Color.red, match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40233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Calibri"/>
              </a:rPr>
              <a:t>Proof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tactic that helps build a C term.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by intro n; rw [h]; rfl.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How to read this deck: look at the screen first, get names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89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Open Lean. It already knows numbers, booleans, strings. #check them.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32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Give things names with def. Build new types with inductive.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75887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703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proof is just a term of a proposition type. Tactics help build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Coming from PDE? Slide 33 — the last one — tells you where Mathlib actually stands for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do not need any computer science to follow the arc. Everything today happens on one screen, and every line you see compiles.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Open Lean. The room is already full.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already knows all of these. You did not declare any of them. Type them and watch the right panel.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3474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true         --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"hello"      -- String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[1, 2, 3]    -- List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(2, true)    -- Nat ×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-- Type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-- Type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#check asks: what type is this?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panel on the right (infoview) answers.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2 is not 'an integer'. It is a term of type Nat.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 itself has a type: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itself has a type: Type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502920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Do not memorize Type 1 yet.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Just notice: types themselves have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 type classifies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Read ":" as has type. Left of : is a term. Right of : is what kind of term it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: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(true : Bool)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this is a Prop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Nat, Bool carry data you can compute with.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 carries propositions.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 term of type P ∧ Q is a proof of P ∧ Q.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Most proofs cannot be taken apart to compute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Why this comes first: a theorem statement IS a type. A proof IS a term of that type. Everything later hangs off this one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Ask Lean four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4114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+ 2)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#eval  (2 + 2)       -- 4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#reduce (1 + 2)      -- 3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-- #print Nat.add    -- see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type is this expression?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94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Run it and print the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17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Fully simplify, show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840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840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Show how something is defined.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These four commands only READ the environment. They never create anything.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Organize 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32918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OPTIONAL: this one line needs Mathlib installed.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Delete it and everything else below still works.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import Mathlib.Tactic   -- bring outside names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namespace Lesson         -- give names an address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end Lesson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Lesson.two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scoped open: only affects the next line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open Lesson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import: make names from other files available.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namespace: a folder for names, closed by end.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open: skip the folder prefix.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section / variable: temporary assumptions, vanish at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rarely write these by hand in a day. You need them because Lean's standard library puts everything in folders.</a:t>
            </a:r>
          </a:p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 import line is the only thing on this slide that needs Mathlib. Plain Lean (Init) is enough for everything else in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Declarations · Name a term,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7132320" cy="47548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1: give a value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2: a function (input -&gt; output)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double (n : Nat) : Nat := n + 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3: use them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double two     -- 4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4: a proposition is a type. rfl proves it.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5: name the theorem (same as example, but reusable)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two_plus_two : 2 + 2 = 4 := rfl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def: name a value.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example: check, do not store.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theorem / lemma: name a proof.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axiom: not shown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474720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axiom means: declare a name and a type,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but give no definition.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Skip it for now. It is how you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"cheat" — you do not need to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cheat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Two buckets: what Lean gives you, what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2971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Kernel: three type-formers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 kernel only knows three ways to form a type: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Sort   (Prop, Type, Type 1 ...)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→ / ∀  (Pi type)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Quot   (quotient)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These are hard-coded. You never declare them.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This is a mechanism map, not a closed inventory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reduction and recursion also live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2971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alibri"/>
              </a:rPr>
              <a:t>You build with inductive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the main mechanism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Your Color, MyNat, Point ...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AND Nat, Bool, List!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(they live in the Init library, auto-loaded at startup, but they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are written exactly like your Color; String is a structure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see below)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structure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inductive, one constructor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class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 →  structure + searchable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abbrev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→  just a name, not a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0881360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Calibri"/>
              </a:rPr>
              <a:t>Why this matters for this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These are not two languages. There is exactly ONE way to add a type, and it is </a:t>
            </a:r>
            <a:r>
              <a:rPr sz="13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structure, class and abbrev are all inductive in disguise (slides 22 to 24).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Every type in Mathlib — Measure, Lp, Distribution, the Sobolev space — was built that way. Learning Lean is not learning a new branch of mathematics; it is learning one keyword that happens to scale to 8,624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finite choices (an enum)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1031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Color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red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green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Now ask what you made: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Color.red   -- Color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       --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Use it — pattern match ALL cases: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0292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isWarm (c : Color) : Bool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true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false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14800"/>
            <a:ext cx="50292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isWarm Color.red    --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Note: the match covers all three.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Miss one and Lean tells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a recursive type (this is how numbers work)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0116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MyNat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zero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succ (n : MyNat)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Build values from the constructors: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5486400" cy="1828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MyNat.zero           --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          -- MyNat →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MyNat.zero -- MyNat ("one")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one  := MyNat.succ MyNat.zero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two' := MyNat.succ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zero : no input, gives one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succ : takes a MyNat, returns a bigger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MyNat is either zero, or succ of a smaller one.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That recursion is exactly what induction proofs follow.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Lean's built-in Nat is defined almost exactly this way.</a:t>
            </a:r>
          </a:p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You just rebuilt the natural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structure · one constructor, named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structure Point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x :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y :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This is shorthand for: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inductive Point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| mk (x : Nat) (y : Nat) : Point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one constructor; its arguments ARE the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Two ways to build the same value: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5486400" cy="10972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p1 : Point := { x := 3, y := 4 }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p2 : Point := Point.mk 3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p1 and p2 are the SAME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Build and read: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50292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def p : Point := { x := 3, y := 4 }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p.x    -- 3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p.y    -- 4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structure gives you named fields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and .x / .y projections for free.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not a new mechanism.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inductive with exactly one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constructor + a name for each field.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 Mathlib, Measure is a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class / instance · a structure Lean can search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8580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named MyAdd because Add already exists in the library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class MyAdd (α : Type)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: α → α → α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instance : MyAdd Nat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n m := n +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class: declares an interface.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instance: provides one implementation.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Lean searches for it automatically.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real + on Nat works the same way: it finds Add 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You almost never write classes by hand. The point is: class and instance are not new mechanisms. class is a structure marked as searchable. instance is just a value of that structure type. Everything reduces back to inductive.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abbrev · a nickname, not a new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abbrev Pair := Nat ×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def myPair : Pair := (3,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Pair IS Nat × 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does not create a new type.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just makes the source shorter.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Contrast: inductive really does add a new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So the hierarchy of "making a type" is: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inductive  →  genuinely new type, new constructors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structure  →  inductive with one constructor + named fields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class      →  structure + searchability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abbrev     →  not a new type at all, just a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The universe staircase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Prop     (Sort 0)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  -- Type     (Sort 1)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  -- Type 1   (Sort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Prop: propositions. Proofs live here.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Type: ordinary data types.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1: the type of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 the same spirit as Grothendieck universes.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No 'set of all sets' paradox — you just climb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Before we look at terms: types themselves live on a staircase. Prop at the bottom, Type above it, Type 1 above that — forever upward.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Terms · five forms you have already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-- 1.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-- 2. application (supply an input)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double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-- 3. a lambda (build a function)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-- 4. a constructor (build a value the declared way)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Color.green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-- 5. a match (read by constructors)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describe (c : Color) : String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"warm"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"ok"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"cold"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Each form has its own shape.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two and double two do not look alike.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match must cover every constructor.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This is the vocabulary of expressions.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Three tools that look similar but do different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let: name a local VALUE inside a term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f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y := 6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y + 1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#eval f  =&gt; 7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have: name a local FACT inside a proof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0 = 0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have h : 0 = 0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.1: read one field of a pair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g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p := (3, true)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p.1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let lives in term mode.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have lives in proof mode (by ...).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.1 / .2 read pair fields.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Mixing them up is common. Notice where each is allowed.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→ and ∀ are the same thing (Pi type)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Non-dependent: result does NOT mention the input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(Nat → Nat)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Dependent: result DOES mention n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((n : Nat) → 0 + n =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prints the dependent arrow as ∀ — they are the same thing: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0584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Lean's output for #check above (Mathlib imported):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ℕ → ℕ : Type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∀ (n : ℕ), 0 + n = n : Prop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The lambda calculus is the math underneath: fun n =&gt; ... IS a lambda. =&gt; is the separator inside fun / match;  ← is the rewrite-direction marker;  ↔ (also written &lt;-&gt;) is Iff — a structure, so it is a type too; only → doubles as a function 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A constructor is one allowed way to build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Color.red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17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one of three choices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MyNat.succ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one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945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a bigger MyNat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And.intro hp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two proofs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9718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P ∧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⟨w, h⟩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490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witness+proof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4903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∃ k, P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59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2627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2627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Eq.refl when sides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The constructors of a type are exactly the ways Lean lets you build it. match reads them 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One inductive, three ways you touch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Declare (slide 21)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inductive MyNat where   (already declared on slide 21)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succ (n : MyNat)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You do not re-declare it here.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39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Build /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530352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MyNat.succ MyNat.zero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match reads one constructor at a time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(see describe in practice file)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Prove (shape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12064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(shape only — not runnable here)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zero   =&gt;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rw [...]  -- see slide 32 for the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          -- fully 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follows the constructors.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zero case, then succ case with an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hypothesis ih.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Proof strategies · tactics help you build a C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intro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Assume n. Starts a function term.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exact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4883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Hand over h. h must match the goal's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3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88035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Close a definitional equality.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5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rw [h]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61187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Rewrite with h. Leaves a new goal.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7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sorry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4339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Leave an explicit gap. Not a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Tactics are not the stored proof. The kernel stores the resulting C term. Tactics are a meta-program that helps you write that term.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One complete proof, every step 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5029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theorem nat_zero_add (n : Nat) : 0 + n = n := by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-- goal: 0 + n = 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zero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+ 0 = 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ih : 0 + k =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succ k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[Nat.add_succ]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(0 + k)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[ih]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k = succ k (rw closes it)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note: core already has Nat.zero_add;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we rename it to avoid a name collision.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induction splits on the constructors.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zero case closes by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succ case: two rewrites; the second closes it.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Watch the infoview after each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D97706"/>
                </a:solidFill>
                <a:latin typeface="Calibri"/>
              </a:rPr>
              <a:t>Where the analysis stands in Lean today (measured, not guessed)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Lean 4.35.0 + Mathlib, 8,624 .lean files. Every green line was #check-ed on this machine; every red line appears in no definition or theorem.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86400" cy="4297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59669"/>
                </a:solidFill>
                <a:latin typeface="Calibri"/>
              </a:rPr>
              <a:t>Already in Mathlib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Measure &amp; integration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MeasureTheory.Measure, .integral, .Integrable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Lp spaces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723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Distributions, tests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Distribution, TestFunction, SchwartzMap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570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space (a type)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BesselPotentialSpace  =  H^{s, p}(E,F)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inequality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MeasureTheory.eLpNorm_le_eLpNorm_fderiv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Laplacian, harmonic fns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Laplacian.laplacian, InnerProductSpace.HarmonicAt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109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Gronwall, Fourier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gronwallBound, IsPicardLindelof, FourierTransform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4982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Note: "Δ" is a scoped notation — open it first, or type the full name.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257800" cy="42976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Calibri"/>
              </a:rPr>
              <a:t>Not there (grep over all 8,624 files)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curl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8775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mollifiers / smoothing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8094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vorticity, transport eq.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7413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Euler equations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673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weak solution spaces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1605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Navier-Stokes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5537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Stokes' theorem</a:t>
            </a:r>
            <a:r>
              <a:rPr sz="1000" b="0">
                <a:solidFill>
                  <a:srgbClr val="888888"/>
                </a:solidFill>
                <a:latin typeface="Consolas"/>
              </a:rPr>
              <a:t>   1 hit, in a docstring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946903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a PDE library</a:t>
            </a:r>
            <a:r>
              <a:rPr sz="1000" b="0">
                <a:solidFill>
                  <a:srgbClr val="888888"/>
                </a:solidFill>
                <a:latin typeface="Consolas"/>
              </a:rPr>
              <a:t>   no Analysis/PDE 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212080"/>
            <a:ext cx="4892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"code hits" = definitions and theorems, not docstrings.</a:t>
            </a:r>
          </a:p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Stray hits: "curl" (an HTTP-tool docstring), "smoothing" (Akra–Bazzi notes).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2531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Mathlib has the Laplacian, but not </a:t>
            </a:r>
            <a:r>
              <a:rPr sz="1300" b="1">
                <a:solidFill>
                  <a:srgbClr val="DC2626"/>
                </a:solidFill>
                <a:latin typeface="Calibri"/>
              </a:rPr>
              <a:t>curl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the analysis layer is there; the PDE layer is not. That gap is where this group's expertise lives.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Map of Lean 4</dc:title>
  <dc:subject>Lean 4 for a 2D Euler research group: what Lean knows, how to name things, how to prove things</dc:subject>
  <dc:creator>Research group meeting</dc:creator>
  <cp:keywords>Lean 4; Mathlib; 2D Euler; PDE; formalization; teaching</cp:keywords>
  <dc:description>v16.3. Audience: PDE people, computer-science beginners. Every code block compiled on Lean 4.35.0 + Mathlib. Speaker notes carry the per-slide time budget.</dc:description>
  <cp:lastModifiedBy>mavis</cp:lastModifiedBy>
  <cp:revision>9</cp:revision>
  <dcterms:created xsi:type="dcterms:W3CDTF">2026-10-29T00:00:00Z</dcterms:created>
  <dcterms:modified xsi:type="dcterms:W3CDTF">2026-10-29T00:00:00Z</dcterms:modified>
  <cp:category>teaching</cp:category>
</cp:coreProperties>
</file>